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4"/>
  </p:sldMasterIdLst>
  <p:sldIdLst>
    <p:sldId id="256" r:id="rId5"/>
    <p:sldId id="257" r:id="rId6"/>
    <p:sldId id="258" r:id="rId7"/>
    <p:sldId id="273" r:id="rId8"/>
    <p:sldId id="274" r:id="rId9"/>
    <p:sldId id="275" r:id="rId10"/>
    <p:sldId id="276" r:id="rId11"/>
    <p:sldId id="259" r:id="rId12"/>
    <p:sldId id="260" r:id="rId13"/>
    <p:sldId id="270" r:id="rId14"/>
    <p:sldId id="262" r:id="rId15"/>
    <p:sldId id="263" r:id="rId16"/>
    <p:sldId id="264" r:id="rId17"/>
    <p:sldId id="265" r:id="rId18"/>
    <p:sldId id="266" r:id="rId19"/>
    <p:sldId id="267" r:id="rId20"/>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94FBCB6E-1177-4518-AFDE-BBA7075A07D1}" v="145" dt="2025-12-17T08:05:47.963"/>
    <p1510:client id="{C6BC979A-A3AE-40BD-AFA5-8B7BB02E6E50}" v="84" dt="2025-12-16T19:04:46.111"/>
    <p1510:client id="{DEF72983-15E9-4027-9400-878DE79EC116}" v="236" dt="2025-12-16T22:00:44.314"/>
    <p1510:client id="{E2D57D6B-5DB0-4A00-92FE-8D05ABBCA517}" v="156" dt="2025-12-16T16:32:17.047"/>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39" d="100"/>
          <a:sy n="39" d="100"/>
        </p:scale>
        <p:origin x="60" y="46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3" Type="http://schemas.openxmlformats.org/officeDocument/2006/relationships/customXml" Target="../customXml/item3.xml"/><Relationship Id="rId21" Type="http://schemas.openxmlformats.org/officeDocument/2006/relationships/presProps" Target="pres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microsoft.com/office/2015/10/relationships/revisionInfo" Target="revisionInfo.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tableStyles" Target="tableStyle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theme" Target="theme/theme1.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32" name="Straight Connector 31"/>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4"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6"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7" name="Isosceles Triangle 26"/>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8"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9"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30"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31" name="Isosceles Triangle 30"/>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9" name="Isosceles Triangle 18"/>
            <p:cNvSpPr/>
            <p:nvPr/>
          </p:nvSpPr>
          <p:spPr>
            <a:xfrm rot="10800000">
              <a:off x="0" y="0"/>
              <a:ext cx="842596" cy="5666154"/>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a:t>Click to edit Master title style</a:t>
            </a:r>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C57BFB2A-2CF6-4711-89D1-319F09623FE2}" type="datetimeFigureOut">
              <a:rPr lang="en-US" smtClean="0"/>
              <a:t>12/17/2025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C1B2B51-239C-4FAA-BB7C-746904E27FE4}" type="slidenum">
              <a:rPr lang="en-US" smtClean="0"/>
              <a:t>‹#›</a:t>
            </a:fld>
            <a:endParaRPr lang="en-US"/>
          </a:p>
        </p:txBody>
      </p:sp>
    </p:spTree>
    <p:extLst>
      <p:ext uri="{BB962C8B-B14F-4D97-AF65-F5344CB8AC3E}">
        <p14:creationId xmlns:p14="http://schemas.microsoft.com/office/powerpoint/2010/main" val="221843381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3600"/>
            </a:lvl1p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C57BFB2A-2CF6-4711-89D1-319F09623FE2}" type="datetimeFigureOut">
              <a:rPr lang="en-US" smtClean="0"/>
              <a:t>12/17/2025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C1B2B51-239C-4FAA-BB7C-746904E27FE4}" type="slidenum">
              <a:rPr lang="en-US" smtClean="0"/>
              <a:t>‹#›</a:t>
            </a:fld>
            <a:endParaRPr lang="en-US"/>
          </a:p>
        </p:txBody>
      </p:sp>
    </p:spTree>
    <p:extLst>
      <p:ext uri="{BB962C8B-B14F-4D97-AF65-F5344CB8AC3E}">
        <p14:creationId xmlns:p14="http://schemas.microsoft.com/office/powerpoint/2010/main" val="74882344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a:t>Click to edit Master title style</a:t>
            </a:r>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C57BFB2A-2CF6-4711-89D1-319F09623FE2}" type="datetimeFigureOut">
              <a:rPr lang="en-US" smtClean="0"/>
              <a:t>12/17/2025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C1B2B51-239C-4FAA-BB7C-746904E27FE4}" type="slidenum">
              <a:rPr lang="en-US" smtClean="0"/>
              <a:t>‹#›</a:t>
            </a:fld>
            <a:endParaRPr lang="en-US"/>
          </a:p>
        </p:txBody>
      </p:sp>
    </p:spTree>
    <p:extLst>
      <p:ext uri="{BB962C8B-B14F-4D97-AF65-F5344CB8AC3E}">
        <p14:creationId xmlns:p14="http://schemas.microsoft.com/office/powerpoint/2010/main" val="326913652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77334" y="2160589"/>
            <a:ext cx="4184035" cy="38807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5089970" y="2160589"/>
            <a:ext cx="4184034" cy="38807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C57BFB2A-2CF6-4711-89D1-319F09623FE2}" type="datetimeFigureOut">
              <a:rPr lang="en-US" smtClean="0"/>
              <a:t>12/17/2025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C1B2B51-239C-4FAA-BB7C-746904E27FE4}" type="slidenum">
              <a:rPr lang="en-US" smtClean="0"/>
              <a:t>‹#›</a:t>
            </a:fld>
            <a:endParaRPr lang="en-US"/>
          </a:p>
        </p:txBody>
      </p:sp>
    </p:spTree>
    <p:extLst>
      <p:ext uri="{BB962C8B-B14F-4D97-AF65-F5344CB8AC3E}">
        <p14:creationId xmlns:p14="http://schemas.microsoft.com/office/powerpoint/2010/main" val="6985480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C57BFB2A-2CF6-4711-89D1-319F09623FE2}" type="datetimeFigureOut">
              <a:rPr lang="en-US" smtClean="0"/>
              <a:t>12/17/2025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4C1B2B51-239C-4FAA-BB7C-746904E27FE4}" type="slidenum">
              <a:rPr lang="en-US" smtClean="0"/>
              <a:t>‹#›</a:t>
            </a:fld>
            <a:endParaRPr lang="en-US"/>
          </a:p>
        </p:txBody>
      </p:sp>
    </p:spTree>
    <p:extLst>
      <p:ext uri="{BB962C8B-B14F-4D97-AF65-F5344CB8AC3E}">
        <p14:creationId xmlns:p14="http://schemas.microsoft.com/office/powerpoint/2010/main" val="145890998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a:t>Click to edit Master title style</a:t>
            </a:r>
          </a:p>
        </p:txBody>
      </p:sp>
      <p:sp>
        <p:nvSpPr>
          <p:cNvPr id="3" name="Date Placeholder 2"/>
          <p:cNvSpPr>
            <a:spLocks noGrp="1"/>
          </p:cNvSpPr>
          <p:nvPr>
            <p:ph type="dt" sz="half" idx="10"/>
          </p:nvPr>
        </p:nvSpPr>
        <p:spPr/>
        <p:txBody>
          <a:bodyPr/>
          <a:lstStyle/>
          <a:p>
            <a:fld id="{C57BFB2A-2CF6-4711-89D1-319F09623FE2}" type="datetimeFigureOut">
              <a:rPr lang="en-US" smtClean="0"/>
              <a:t>12/17/2025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4C1B2B51-239C-4FAA-BB7C-746904E27FE4}" type="slidenum">
              <a:rPr lang="en-US" smtClean="0"/>
              <a:t>‹#›</a:t>
            </a:fld>
            <a:endParaRPr lang="en-US"/>
          </a:p>
        </p:txBody>
      </p:sp>
    </p:spTree>
    <p:extLst>
      <p:ext uri="{BB962C8B-B14F-4D97-AF65-F5344CB8AC3E}">
        <p14:creationId xmlns:p14="http://schemas.microsoft.com/office/powerpoint/2010/main" val="155194888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57BFB2A-2CF6-4711-89D1-319F09623FE2}" type="datetimeFigureOut">
              <a:rPr lang="en-US" smtClean="0"/>
              <a:t>12/17/2025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4C1B2B51-239C-4FAA-BB7C-746904E27FE4}" type="slidenum">
              <a:rPr lang="en-US" smtClean="0"/>
              <a:t>‹#›</a:t>
            </a:fld>
            <a:endParaRPr lang="en-US"/>
          </a:p>
        </p:txBody>
      </p:sp>
    </p:spTree>
    <p:extLst>
      <p:ext uri="{BB962C8B-B14F-4D97-AF65-F5344CB8AC3E}">
        <p14:creationId xmlns:p14="http://schemas.microsoft.com/office/powerpoint/2010/main" val="396598367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a:t>Click to edit Master title style</a:t>
            </a:r>
          </a:p>
        </p:txBody>
      </p:sp>
      <p:sp>
        <p:nvSpPr>
          <p:cNvPr id="3" name="Content Placeholder 2"/>
          <p:cNvSpPr>
            <a:spLocks noGrp="1"/>
          </p:cNvSpPr>
          <p:nvPr>
            <p:ph idx="1"/>
          </p:nvPr>
        </p:nvSpPr>
        <p:spPr>
          <a:xfrm>
            <a:off x="4760461" y="514924"/>
            <a:ext cx="4513541" cy="552643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C57BFB2A-2CF6-4711-89D1-319F09623FE2}" type="datetimeFigureOut">
              <a:rPr lang="en-US" smtClean="0"/>
              <a:t>12/17/2025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C1B2B51-239C-4FAA-BB7C-746904E27FE4}" type="slidenum">
              <a:rPr lang="en-US" smtClean="0"/>
              <a:t>‹#›</a:t>
            </a:fld>
            <a:endParaRPr lang="en-US"/>
          </a:p>
        </p:txBody>
      </p:sp>
    </p:spTree>
    <p:extLst>
      <p:ext uri="{BB962C8B-B14F-4D97-AF65-F5344CB8AC3E}">
        <p14:creationId xmlns:p14="http://schemas.microsoft.com/office/powerpoint/2010/main" val="402381801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a:t>Click to edit Master title style</a:t>
            </a:r>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C57BFB2A-2CF6-4711-89D1-319F09623FE2}" type="datetimeFigureOut">
              <a:rPr lang="en-US" smtClean="0"/>
              <a:t>12/17/2025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C1B2B51-239C-4FAA-BB7C-746904E27FE4}" type="slidenum">
              <a:rPr lang="en-US" smtClean="0"/>
              <a:t>‹#›</a:t>
            </a:fld>
            <a:endParaRPr lang="en-US"/>
          </a:p>
        </p:txBody>
      </p:sp>
    </p:spTree>
    <p:extLst>
      <p:ext uri="{BB962C8B-B14F-4D97-AF65-F5344CB8AC3E}">
        <p14:creationId xmlns:p14="http://schemas.microsoft.com/office/powerpoint/2010/main" val="348081712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a:t>Click to edit Master title style</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C57BFB2A-2CF6-4711-89D1-319F09623FE2}" type="datetimeFigureOut">
              <a:rPr lang="en-US" smtClean="0"/>
              <a:t>12/17/2025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C1B2B51-239C-4FAA-BB7C-746904E27FE4}" type="slidenum">
              <a:rPr lang="en-US" smtClean="0"/>
              <a:t>‹#›</a:t>
            </a:fld>
            <a:endParaRPr lang="en-US"/>
          </a:p>
        </p:txBody>
      </p:sp>
    </p:spTree>
    <p:extLst>
      <p:ext uri="{BB962C8B-B14F-4D97-AF65-F5344CB8AC3E}">
        <p14:creationId xmlns:p14="http://schemas.microsoft.com/office/powerpoint/2010/main" val="78175160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C57BFB2A-2CF6-4711-89D1-319F09623FE2}" type="datetimeFigureOut">
              <a:rPr lang="en-US" smtClean="0"/>
              <a:t>12/17/2025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C1B2B51-239C-4FAA-BB7C-746904E27FE4}" type="slidenum">
              <a:rPr lang="en-US" smtClean="0"/>
              <a:t>‹#›</a:t>
            </a:fld>
            <a:endParaRPr lang="en-US"/>
          </a:p>
        </p:txBody>
      </p:sp>
      <p:sp>
        <p:nvSpPr>
          <p:cNvPr id="20" name="TextBox 19"/>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a:ln w="3175" cmpd="sng">
                  <a:noFill/>
                </a:ln>
                <a:solidFill>
                  <a:schemeClr val="accent1">
                    <a:lumMod val="60000"/>
                    <a:lumOff val="40000"/>
                  </a:schemeClr>
                </a:solidFill>
                <a:effectLst/>
                <a:latin typeface="Arial"/>
              </a:rPr>
              <a:t>“</a:t>
            </a:r>
          </a:p>
        </p:txBody>
      </p:sp>
      <p:sp>
        <p:nvSpPr>
          <p:cNvPr id="22" name="TextBox 21"/>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a:ln w="3175" cmpd="sng">
                  <a:noFill/>
                </a:ln>
                <a:solidFill>
                  <a:schemeClr val="accent1">
                    <a:lumMod val="60000"/>
                    <a:lumOff val="40000"/>
                  </a:schemeClr>
                </a:solidFill>
                <a:latin typeface="Arial"/>
              </a:rPr>
              <a:t>”</a:t>
            </a:r>
            <a:endParaRPr lang="en-US">
              <a:solidFill>
                <a:schemeClr val="accent1">
                  <a:lumMod val="60000"/>
                  <a:lumOff val="40000"/>
                </a:schemeClr>
              </a:solidFill>
              <a:latin typeface="Arial"/>
            </a:endParaRPr>
          </a:p>
        </p:txBody>
      </p:sp>
    </p:spTree>
    <p:extLst>
      <p:ext uri="{BB962C8B-B14F-4D97-AF65-F5344CB8AC3E}">
        <p14:creationId xmlns:p14="http://schemas.microsoft.com/office/powerpoint/2010/main" val="262480205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a:t>Click to edit Master title style</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C57BFB2A-2CF6-4711-89D1-319F09623FE2}" type="datetimeFigureOut">
              <a:rPr lang="en-US" smtClean="0"/>
              <a:t>12/17/2025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C1B2B51-239C-4FAA-BB7C-746904E27FE4}" type="slidenum">
              <a:rPr lang="en-US" smtClean="0"/>
              <a:t>‹#›</a:t>
            </a:fld>
            <a:endParaRPr lang="en-US"/>
          </a:p>
        </p:txBody>
      </p:sp>
    </p:spTree>
    <p:extLst>
      <p:ext uri="{BB962C8B-B14F-4D97-AF65-F5344CB8AC3E}">
        <p14:creationId xmlns:p14="http://schemas.microsoft.com/office/powerpoint/2010/main" val="344649117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C57BFB2A-2CF6-4711-89D1-319F09623FE2}" type="datetimeFigureOut">
              <a:rPr lang="en-US" smtClean="0"/>
              <a:t>12/17/2025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C1B2B51-239C-4FAA-BB7C-746904E27FE4}" type="slidenum">
              <a:rPr lang="en-US" smtClean="0"/>
              <a:t>‹#›</a:t>
            </a:fld>
            <a:endParaRPr lang="en-US"/>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337136064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a:t>Click to edit Master title style</a:t>
            </a:r>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C57BFB2A-2CF6-4711-89D1-319F09623FE2}" type="datetimeFigureOut">
              <a:rPr lang="en-US" smtClean="0"/>
              <a:t>12/17/2025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C1B2B51-239C-4FAA-BB7C-746904E27FE4}" type="slidenum">
              <a:rPr lang="en-US" smtClean="0"/>
              <a:t>‹#›</a:t>
            </a:fld>
            <a:endParaRPr lang="en-US"/>
          </a:p>
        </p:txBody>
      </p:sp>
    </p:spTree>
    <p:extLst>
      <p:ext uri="{BB962C8B-B14F-4D97-AF65-F5344CB8AC3E}">
        <p14:creationId xmlns:p14="http://schemas.microsoft.com/office/powerpoint/2010/main" val="3531533937"/>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C57BFB2A-2CF6-4711-89D1-319F09623FE2}" type="datetimeFigureOut">
              <a:rPr lang="en-US" smtClean="0"/>
              <a:t>12/17/2025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C1B2B51-239C-4FAA-BB7C-746904E27FE4}" type="slidenum">
              <a:rPr lang="en-US" smtClean="0"/>
              <a:t>‹#›</a:t>
            </a:fld>
            <a:endParaRPr lang="en-US"/>
          </a:p>
        </p:txBody>
      </p:sp>
    </p:spTree>
    <p:extLst>
      <p:ext uri="{BB962C8B-B14F-4D97-AF65-F5344CB8AC3E}">
        <p14:creationId xmlns:p14="http://schemas.microsoft.com/office/powerpoint/2010/main" val="2295716963"/>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a:t>Click to edit Master title style</a:t>
            </a:r>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C57BFB2A-2CF6-4711-89D1-319F09623FE2}" type="datetimeFigureOut">
              <a:rPr lang="en-US" smtClean="0"/>
              <a:t>12/17/2025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C1B2B51-239C-4FAA-BB7C-746904E27FE4}" type="slidenum">
              <a:rPr lang="en-US" smtClean="0"/>
              <a:t>‹#›</a:t>
            </a:fld>
            <a:endParaRPr lang="en-US"/>
          </a:p>
        </p:txBody>
      </p:sp>
    </p:spTree>
    <p:extLst>
      <p:ext uri="{BB962C8B-B14F-4D97-AF65-F5344CB8AC3E}">
        <p14:creationId xmlns:p14="http://schemas.microsoft.com/office/powerpoint/2010/main" val="96599038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4" name="Isosceles Triangle 23"/>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8" name="Isosceles Triangle 27"/>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9" name="Isosceles Triangle 28"/>
            <p:cNvSpPr/>
            <p:nvPr/>
          </p:nvSpPr>
          <p:spPr>
            <a:xfrm>
              <a:off x="0"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a:t>Click to edit Master title style</a:t>
            </a:r>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C57BFB2A-2CF6-4711-89D1-319F09623FE2}" type="datetimeFigureOut">
              <a:rPr lang="en-US" smtClean="0"/>
              <a:t>12/17/2025</a:t>
            </a:fld>
            <a:endParaRPr lang="en-US"/>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4C1B2B51-239C-4FAA-BB7C-746904E27FE4}" type="slidenum">
              <a:rPr lang="en-US" smtClean="0"/>
              <a:t>‹#›</a:t>
            </a:fld>
            <a:endParaRPr lang="en-US"/>
          </a:p>
        </p:txBody>
      </p:sp>
    </p:spTree>
    <p:extLst>
      <p:ext uri="{BB962C8B-B14F-4D97-AF65-F5344CB8AC3E}">
        <p14:creationId xmlns:p14="http://schemas.microsoft.com/office/powerpoint/2010/main" val="413080863"/>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Lst>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8" Type="http://schemas.openxmlformats.org/officeDocument/2006/relationships/image" Target="../media/image13.png"/><Relationship Id="rId3" Type="http://schemas.openxmlformats.org/officeDocument/2006/relationships/image" Target="../media/image8.png"/><Relationship Id="rId7" Type="http://schemas.openxmlformats.org/officeDocument/2006/relationships/image" Target="../media/image12.png"/><Relationship Id="rId2" Type="http://schemas.openxmlformats.org/officeDocument/2006/relationships/image" Target="../media/image7.png"/><Relationship Id="rId1" Type="http://schemas.openxmlformats.org/officeDocument/2006/relationships/slideLayout" Target="../slideLayouts/slideLayout2.xml"/><Relationship Id="rId6" Type="http://schemas.openxmlformats.org/officeDocument/2006/relationships/image" Target="../media/image11.png"/><Relationship Id="rId11" Type="http://schemas.openxmlformats.org/officeDocument/2006/relationships/image" Target="../media/image16.png"/><Relationship Id="rId5" Type="http://schemas.openxmlformats.org/officeDocument/2006/relationships/image" Target="../media/image10.png"/><Relationship Id="rId10" Type="http://schemas.openxmlformats.org/officeDocument/2006/relationships/image" Target="../media/image15.png"/><Relationship Id="rId4" Type="http://schemas.openxmlformats.org/officeDocument/2006/relationships/image" Target="../media/image9.png"/><Relationship Id="rId9" Type="http://schemas.openxmlformats.org/officeDocument/2006/relationships/image" Target="../media/image14.png"/></Relationships>
</file>

<file path=ppt/slides/_rels/slide15.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61F13D-8708-CB92-C3CC-1E32A7EB7E0A}"/>
              </a:ext>
            </a:extLst>
          </p:cNvPr>
          <p:cNvSpPr>
            <a:spLocks noGrp="1"/>
          </p:cNvSpPr>
          <p:nvPr>
            <p:ph type="ctrTitle"/>
          </p:nvPr>
        </p:nvSpPr>
        <p:spPr>
          <a:xfrm>
            <a:off x="2006067" y="2093791"/>
            <a:ext cx="6955997" cy="1335209"/>
          </a:xfrm>
        </p:spPr>
        <p:txBody>
          <a:bodyPr/>
          <a:lstStyle/>
          <a:p>
            <a:pPr algn="ctr"/>
            <a:r>
              <a:rPr lang="en-US" sz="480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Hotel Reservation Management System </a:t>
            </a:r>
          </a:p>
        </p:txBody>
      </p:sp>
      <p:pic>
        <p:nvPicPr>
          <p:cNvPr id="5" name="Picture 4" descr="A logo with text and a symbol&#10;&#10;AI-generated content may be incorrect.">
            <a:extLst>
              <a:ext uri="{FF2B5EF4-FFF2-40B4-BE49-F238E27FC236}">
                <a16:creationId xmlns:a16="http://schemas.microsoft.com/office/drawing/2014/main" id="{C02C99B9-4435-C4B9-68C5-ABED614F7747}"/>
              </a:ext>
            </a:extLst>
          </p:cNvPr>
          <p:cNvPicPr>
            <a:picLocks noChangeAspect="1"/>
          </p:cNvPicPr>
          <p:nvPr/>
        </p:nvPicPr>
        <p:blipFill>
          <a:blip r:embed="rId2">
            <a:extLst>
              <a:ext uri="{28A0092B-C50C-407E-A947-70E740481C1C}">
                <a14:useLocalDpi xmlns:a14="http://schemas.microsoft.com/office/drawing/2010/main" val="0"/>
              </a:ext>
            </a:extLst>
          </a:blip>
          <a:srcRect l="27824" t="25500" r="18573" b="36749"/>
          <a:stretch>
            <a:fillRect/>
          </a:stretch>
        </p:blipFill>
        <p:spPr>
          <a:xfrm>
            <a:off x="3797086" y="250662"/>
            <a:ext cx="3182026" cy="1214735"/>
          </a:xfrm>
          <a:prstGeom prst="rect">
            <a:avLst/>
          </a:prstGeom>
        </p:spPr>
      </p:pic>
      <p:graphicFrame>
        <p:nvGraphicFramePr>
          <p:cNvPr id="4" name="Table 3">
            <a:extLst>
              <a:ext uri="{FF2B5EF4-FFF2-40B4-BE49-F238E27FC236}">
                <a16:creationId xmlns:a16="http://schemas.microsoft.com/office/drawing/2014/main" id="{93F3C8D3-57DB-FCC0-3FED-E165BD366E47}"/>
              </a:ext>
            </a:extLst>
          </p:cNvPr>
          <p:cNvGraphicFramePr>
            <a:graphicFrameLocks noGrp="1"/>
          </p:cNvGraphicFramePr>
          <p:nvPr>
            <p:extLst>
              <p:ext uri="{D42A27DB-BD31-4B8C-83A1-F6EECF244321}">
                <p14:modId xmlns:p14="http://schemas.microsoft.com/office/powerpoint/2010/main" val="3512033508"/>
              </p:ext>
            </p:extLst>
          </p:nvPr>
        </p:nvGraphicFramePr>
        <p:xfrm>
          <a:off x="2410409" y="3883402"/>
          <a:ext cx="6455688" cy="2011680"/>
        </p:xfrm>
        <a:graphic>
          <a:graphicData uri="http://schemas.openxmlformats.org/drawingml/2006/table">
            <a:tbl>
              <a:tblPr firstRow="1" bandRow="1">
                <a:tableStyleId>{5C22544A-7EE6-4342-B048-85BDC9FD1C3A}</a:tableStyleId>
              </a:tblPr>
              <a:tblGrid>
                <a:gridCol w="3227844">
                  <a:extLst>
                    <a:ext uri="{9D8B030D-6E8A-4147-A177-3AD203B41FA5}">
                      <a16:colId xmlns:a16="http://schemas.microsoft.com/office/drawing/2014/main" val="1656978836"/>
                    </a:ext>
                  </a:extLst>
                </a:gridCol>
                <a:gridCol w="3227844">
                  <a:extLst>
                    <a:ext uri="{9D8B030D-6E8A-4147-A177-3AD203B41FA5}">
                      <a16:colId xmlns:a16="http://schemas.microsoft.com/office/drawing/2014/main" val="555938896"/>
                    </a:ext>
                  </a:extLst>
                </a:gridCol>
              </a:tblGrid>
              <a:tr h="302834">
                <a:tc>
                  <a:txBody>
                    <a:bodyPr/>
                    <a:lstStyle/>
                    <a:p>
                      <a:pPr algn="ctr"/>
                      <a:r>
                        <a:rPr lang="en-SA" sz="1600">
                          <a:latin typeface="Times New Roman" panose="02020603050405020304" pitchFamily="18" charset="0"/>
                          <a:cs typeface="Times New Roman" panose="02020603050405020304" pitchFamily="18" charset="0"/>
                        </a:rPr>
                        <a:t>Student’s</a:t>
                      </a:r>
                    </a:p>
                  </a:txBody>
                  <a:tcPr/>
                </a:tc>
                <a:tc>
                  <a:txBody>
                    <a:bodyPr/>
                    <a:lstStyle/>
                    <a:p>
                      <a:pPr algn="ctr"/>
                      <a:r>
                        <a:rPr lang="en-SA" sz="1600">
                          <a:latin typeface="Times New Roman" panose="02020603050405020304" pitchFamily="18" charset="0"/>
                          <a:cs typeface="Times New Roman" panose="02020603050405020304" pitchFamily="18" charset="0"/>
                        </a:rPr>
                        <a:t>ID</a:t>
                      </a:r>
                    </a:p>
                  </a:txBody>
                  <a:tcPr/>
                </a:tc>
                <a:extLst>
                  <a:ext uri="{0D108BD9-81ED-4DB2-BD59-A6C34878D82A}">
                    <a16:rowId xmlns:a16="http://schemas.microsoft.com/office/drawing/2014/main" val="704249399"/>
                  </a:ext>
                </a:extLst>
              </a:tr>
              <a:tr h="302834">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lang="en-US" sz="1600" kern="1200">
                          <a:solidFill>
                            <a:schemeClr val="dk1"/>
                          </a:solidFill>
                          <a:effectLst/>
                          <a:latin typeface="Times New Roman" panose="02020603050405020304" pitchFamily="18" charset="0"/>
                          <a:ea typeface="+mn-ea"/>
                          <a:cs typeface="Times New Roman" panose="02020603050405020304" pitchFamily="18" charset="0"/>
                        </a:rPr>
                        <a:t>Atekah Aljafar</a:t>
                      </a:r>
                    </a:p>
                  </a:txBody>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lang="en-SA" sz="1600" kern="1200">
                          <a:solidFill>
                            <a:schemeClr val="dk1"/>
                          </a:solidFill>
                          <a:effectLst/>
                          <a:latin typeface="Times New Roman" panose="02020603050405020304" pitchFamily="18" charset="0"/>
                          <a:ea typeface="+mn-ea"/>
                          <a:cs typeface="Times New Roman" panose="02020603050405020304" pitchFamily="18" charset="0"/>
                        </a:rPr>
                        <a:t>222427138</a:t>
                      </a:r>
                    </a:p>
                  </a:txBody>
                  <a:tcPr/>
                </a:tc>
                <a:extLst>
                  <a:ext uri="{0D108BD9-81ED-4DB2-BD59-A6C34878D82A}">
                    <a16:rowId xmlns:a16="http://schemas.microsoft.com/office/drawing/2014/main" val="504132928"/>
                  </a:ext>
                </a:extLst>
              </a:tr>
              <a:tr h="302834">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lang="en-US" sz="1600" kern="1200">
                          <a:solidFill>
                            <a:schemeClr val="dk1"/>
                          </a:solidFill>
                          <a:effectLst/>
                          <a:latin typeface="Times New Roman" panose="02020603050405020304" pitchFamily="18" charset="0"/>
                          <a:ea typeface="+mn-ea"/>
                          <a:cs typeface="Times New Roman" panose="02020603050405020304" pitchFamily="18" charset="0"/>
                        </a:rPr>
                        <a:t>Norah Almarri</a:t>
                      </a:r>
                    </a:p>
                  </a:txBody>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lang="en-SA" sz="1600" kern="1200">
                          <a:solidFill>
                            <a:schemeClr val="dk1"/>
                          </a:solidFill>
                          <a:effectLst/>
                          <a:latin typeface="Times New Roman" panose="02020603050405020304" pitchFamily="18" charset="0"/>
                          <a:ea typeface="+mn-ea"/>
                          <a:cs typeface="Times New Roman" panose="02020603050405020304" pitchFamily="18" charset="0"/>
                        </a:rPr>
                        <a:t>222411213</a:t>
                      </a:r>
                    </a:p>
                  </a:txBody>
                  <a:tcPr/>
                </a:tc>
                <a:extLst>
                  <a:ext uri="{0D108BD9-81ED-4DB2-BD59-A6C34878D82A}">
                    <a16:rowId xmlns:a16="http://schemas.microsoft.com/office/drawing/2014/main" val="3872138597"/>
                  </a:ext>
                </a:extLst>
              </a:tr>
              <a:tr h="302834">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lang="en-US" sz="1600" kern="1200">
                          <a:solidFill>
                            <a:schemeClr val="dk1"/>
                          </a:solidFill>
                          <a:effectLst/>
                          <a:latin typeface="Times New Roman" panose="02020603050405020304" pitchFamily="18" charset="0"/>
                          <a:ea typeface="+mn-ea"/>
                          <a:cs typeface="Times New Roman" panose="02020603050405020304" pitchFamily="18" charset="0"/>
                        </a:rPr>
                        <a:t>Fatimah Albesher</a:t>
                      </a:r>
                    </a:p>
                  </a:txBody>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lang="en-SA" sz="1600" kern="1200">
                          <a:solidFill>
                            <a:schemeClr val="dk1"/>
                          </a:solidFill>
                          <a:effectLst/>
                          <a:latin typeface="Times New Roman" panose="02020603050405020304" pitchFamily="18" charset="0"/>
                          <a:ea typeface="+mn-ea"/>
                          <a:cs typeface="Times New Roman" panose="02020603050405020304" pitchFamily="18" charset="0"/>
                        </a:rPr>
                        <a:t>222411640</a:t>
                      </a:r>
                    </a:p>
                  </a:txBody>
                  <a:tcPr/>
                </a:tc>
                <a:extLst>
                  <a:ext uri="{0D108BD9-81ED-4DB2-BD59-A6C34878D82A}">
                    <a16:rowId xmlns:a16="http://schemas.microsoft.com/office/drawing/2014/main" val="3164642352"/>
                  </a:ext>
                </a:extLst>
              </a:tr>
              <a:tr h="302834">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lang="en-US" sz="1600" kern="1200">
                          <a:solidFill>
                            <a:schemeClr val="dk1"/>
                          </a:solidFill>
                          <a:effectLst/>
                          <a:latin typeface="Times New Roman" panose="02020603050405020304" pitchFamily="18" charset="0"/>
                          <a:ea typeface="+mn-ea"/>
                          <a:cs typeface="Times New Roman" panose="02020603050405020304" pitchFamily="18" charset="0"/>
                        </a:rPr>
                        <a:t>Fatimah Alabdellah</a:t>
                      </a:r>
                    </a:p>
                  </a:txBody>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lang="en-SA" sz="1600" kern="1200">
                          <a:solidFill>
                            <a:schemeClr val="dk1"/>
                          </a:solidFill>
                          <a:effectLst/>
                          <a:latin typeface="Times New Roman" panose="02020603050405020304" pitchFamily="18" charset="0"/>
                          <a:ea typeface="+mn-ea"/>
                          <a:cs typeface="Times New Roman" panose="02020603050405020304" pitchFamily="18" charset="0"/>
                        </a:rPr>
                        <a:t>222412119</a:t>
                      </a:r>
                    </a:p>
                  </a:txBody>
                  <a:tcPr/>
                </a:tc>
                <a:extLst>
                  <a:ext uri="{0D108BD9-81ED-4DB2-BD59-A6C34878D82A}">
                    <a16:rowId xmlns:a16="http://schemas.microsoft.com/office/drawing/2014/main" val="1008885977"/>
                  </a:ext>
                </a:extLst>
              </a:tr>
              <a:tr h="302834">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lang="en-US" sz="1600" kern="1200">
                          <a:solidFill>
                            <a:schemeClr val="dk1"/>
                          </a:solidFill>
                          <a:effectLst/>
                          <a:latin typeface="Times New Roman" panose="02020603050405020304" pitchFamily="18" charset="0"/>
                          <a:ea typeface="+mn-ea"/>
                          <a:cs typeface="Times New Roman" panose="02020603050405020304" pitchFamily="18" charset="0"/>
                        </a:rPr>
                        <a:t>Zainab Alhadhari</a:t>
                      </a:r>
                    </a:p>
                  </a:txBody>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lang="en-SA" sz="1600" kern="1200">
                          <a:solidFill>
                            <a:schemeClr val="dk1"/>
                          </a:solidFill>
                          <a:effectLst/>
                          <a:latin typeface="Times New Roman" panose="02020603050405020304" pitchFamily="18" charset="0"/>
                          <a:ea typeface="+mn-ea"/>
                          <a:cs typeface="Times New Roman" panose="02020603050405020304" pitchFamily="18" charset="0"/>
                        </a:rPr>
                        <a:t>222405495</a:t>
                      </a:r>
                    </a:p>
                  </a:txBody>
                  <a:tcPr/>
                </a:tc>
                <a:extLst>
                  <a:ext uri="{0D108BD9-81ED-4DB2-BD59-A6C34878D82A}">
                    <a16:rowId xmlns:a16="http://schemas.microsoft.com/office/drawing/2014/main" val="1747450123"/>
                  </a:ext>
                </a:extLst>
              </a:tr>
            </a:tbl>
          </a:graphicData>
        </a:graphic>
      </p:graphicFrame>
    </p:spTree>
    <p:extLst>
      <p:ext uri="{BB962C8B-B14F-4D97-AF65-F5344CB8AC3E}">
        <p14:creationId xmlns:p14="http://schemas.microsoft.com/office/powerpoint/2010/main" val="331069892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5F5072-8CF3-ED24-F32A-076920E5D74C}"/>
              </a:ext>
            </a:extLst>
          </p:cNvPr>
          <p:cNvSpPr>
            <a:spLocks noGrp="1"/>
          </p:cNvSpPr>
          <p:nvPr>
            <p:ph type="title"/>
          </p:nvPr>
        </p:nvSpPr>
        <p:spPr/>
        <p:txBody>
          <a:bodyPr/>
          <a:lstStyle/>
          <a:p>
            <a:pPr algn="ctr"/>
            <a:r>
              <a:rPr lang="en-US" b="1">
                <a:latin typeface="Times New Roman" panose="02020603050405020304" pitchFamily="18" charset="0"/>
                <a:cs typeface="Times New Roman" panose="02020603050405020304" pitchFamily="18" charset="0"/>
              </a:rPr>
              <a:t>Introduction</a:t>
            </a:r>
          </a:p>
        </p:txBody>
      </p:sp>
      <p:sp>
        <p:nvSpPr>
          <p:cNvPr id="3" name="Content Placeholder 2">
            <a:extLst>
              <a:ext uri="{FF2B5EF4-FFF2-40B4-BE49-F238E27FC236}">
                <a16:creationId xmlns:a16="http://schemas.microsoft.com/office/drawing/2014/main" id="{E32AA627-6F8A-9DE3-A505-1A9FE49500E2}"/>
              </a:ext>
            </a:extLst>
          </p:cNvPr>
          <p:cNvSpPr>
            <a:spLocks noGrp="1"/>
          </p:cNvSpPr>
          <p:nvPr>
            <p:ph idx="1"/>
          </p:nvPr>
        </p:nvSpPr>
        <p:spPr>
          <a:xfrm>
            <a:off x="677334" y="1726119"/>
            <a:ext cx="8596668" cy="3880773"/>
          </a:xfrm>
        </p:spPr>
        <p:txBody>
          <a:bodyPr>
            <a:normAutofit/>
          </a:bodyPr>
          <a:lstStyle/>
          <a:p>
            <a:pPr algn="just">
              <a:lnSpc>
                <a:spcPct val="150000"/>
              </a:lnSpc>
              <a:buFont typeface="Wingdings" panose="05000000000000000000" pitchFamily="2" charset="2"/>
              <a:buChar char="Ø"/>
            </a:pPr>
            <a:r>
              <a:rPr lang="en-US" sz="2000">
                <a:latin typeface="Times New Roman" panose="02020603050405020304" pitchFamily="18" charset="0"/>
                <a:cs typeface="Times New Roman" panose="02020603050405020304" pitchFamily="18" charset="0"/>
              </a:rPr>
              <a:t>This project develops a </a:t>
            </a:r>
            <a:r>
              <a:rPr lang="en-US" sz="2000" b="1">
                <a:latin typeface="Times New Roman" panose="02020603050405020304" pitchFamily="18" charset="0"/>
                <a:cs typeface="Times New Roman" panose="02020603050405020304" pitchFamily="18" charset="0"/>
              </a:rPr>
              <a:t>Hotel Reservation Management System (HRMS)</a:t>
            </a:r>
            <a:r>
              <a:rPr lang="en-US" sz="2000">
                <a:latin typeface="Times New Roman" panose="02020603050405020304" pitchFamily="18" charset="0"/>
                <a:cs typeface="Times New Roman" panose="02020603050405020304" pitchFamily="18" charset="0"/>
              </a:rPr>
              <a:t> for small to mid-sized hotels, providing real-time availability, secure online booking, accurate inventory management, and synchronization with external booking channels. The system enables guests to search, compare, book, and manage reservations instantly, while helping hotels reduce double-booking, minimize manual work, and improve overall service quality.</a:t>
            </a:r>
          </a:p>
        </p:txBody>
      </p:sp>
    </p:spTree>
    <p:extLst>
      <p:ext uri="{BB962C8B-B14F-4D97-AF65-F5344CB8AC3E}">
        <p14:creationId xmlns:p14="http://schemas.microsoft.com/office/powerpoint/2010/main" val="269837151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E3D786-75CA-DEEE-D432-4257B192EDC6}"/>
              </a:ext>
            </a:extLst>
          </p:cNvPr>
          <p:cNvSpPr>
            <a:spLocks noGrp="1"/>
          </p:cNvSpPr>
          <p:nvPr>
            <p:ph type="title"/>
          </p:nvPr>
        </p:nvSpPr>
        <p:spPr/>
        <p:txBody>
          <a:bodyPr/>
          <a:lstStyle/>
          <a:p>
            <a:pPr algn="ctr"/>
            <a:r>
              <a:rPr lang="en-US" b="1">
                <a:latin typeface="Times New Roman" panose="02020603050405020304" pitchFamily="18" charset="0"/>
                <a:cs typeface="Times New Roman" panose="02020603050405020304" pitchFamily="18" charset="0"/>
              </a:rPr>
              <a:t>Methodology Description </a:t>
            </a:r>
          </a:p>
        </p:txBody>
      </p:sp>
      <p:sp>
        <p:nvSpPr>
          <p:cNvPr id="3" name="Content Placeholder 2">
            <a:extLst>
              <a:ext uri="{FF2B5EF4-FFF2-40B4-BE49-F238E27FC236}">
                <a16:creationId xmlns:a16="http://schemas.microsoft.com/office/drawing/2014/main" id="{CFB253F7-1784-143F-BBC3-376192624D5D}"/>
              </a:ext>
            </a:extLst>
          </p:cNvPr>
          <p:cNvSpPr>
            <a:spLocks noGrp="1"/>
          </p:cNvSpPr>
          <p:nvPr>
            <p:ph idx="1"/>
          </p:nvPr>
        </p:nvSpPr>
        <p:spPr>
          <a:xfrm>
            <a:off x="784338" y="1930400"/>
            <a:ext cx="8596668" cy="3880773"/>
          </a:xfrm>
        </p:spPr>
        <p:txBody>
          <a:bodyPr>
            <a:normAutofit/>
          </a:bodyPr>
          <a:lstStyle/>
          <a:p>
            <a:pPr algn="just">
              <a:buFont typeface="Wingdings" panose="05000000000000000000" pitchFamily="2" charset="2"/>
              <a:buChar char="Ø"/>
            </a:pPr>
            <a:r>
              <a:rPr lang="en-US" sz="2200" b="1">
                <a:latin typeface="Times New Roman" panose="02020603050405020304" pitchFamily="18" charset="0"/>
                <a:cs typeface="Times New Roman" panose="02020603050405020304" pitchFamily="18" charset="0"/>
              </a:rPr>
              <a:t>Methodology Overview</a:t>
            </a:r>
          </a:p>
          <a:p>
            <a:pPr lvl="1" algn="just">
              <a:buFont typeface="Wingdings" panose="05000000000000000000" pitchFamily="2" charset="2"/>
              <a:buChar char="§"/>
            </a:pPr>
            <a:r>
              <a:rPr lang="en-US" sz="2000">
                <a:latin typeface="Times New Roman" panose="02020603050405020304" pitchFamily="18" charset="0"/>
                <a:cs typeface="Times New Roman" panose="02020603050405020304" pitchFamily="18" charset="0"/>
              </a:rPr>
              <a:t>Requirement gathering and analysis</a:t>
            </a:r>
          </a:p>
          <a:p>
            <a:pPr lvl="1" algn="just">
              <a:buFont typeface="Wingdings" panose="05000000000000000000" pitchFamily="2" charset="2"/>
              <a:buChar char="§"/>
            </a:pPr>
            <a:r>
              <a:rPr lang="en-US" sz="2000">
                <a:latin typeface="Times New Roman" panose="02020603050405020304" pitchFamily="18" charset="0"/>
                <a:cs typeface="Times New Roman" panose="02020603050405020304" pitchFamily="18" charset="0"/>
              </a:rPr>
              <a:t>System design and architecture</a:t>
            </a:r>
          </a:p>
          <a:p>
            <a:pPr lvl="1" algn="just">
              <a:buFont typeface="Wingdings" panose="05000000000000000000" pitchFamily="2" charset="2"/>
              <a:buChar char="§"/>
            </a:pPr>
            <a:r>
              <a:rPr lang="en-US" sz="2000">
                <a:latin typeface="Times New Roman" panose="02020603050405020304" pitchFamily="18" charset="0"/>
                <a:cs typeface="Times New Roman" panose="02020603050405020304" pitchFamily="18" charset="0"/>
              </a:rPr>
              <a:t>Technology selection and implementation</a:t>
            </a:r>
          </a:p>
          <a:p>
            <a:pPr lvl="1" algn="just">
              <a:buFont typeface="Wingdings" panose="05000000000000000000" pitchFamily="2" charset="2"/>
              <a:buChar char="§"/>
            </a:pPr>
            <a:r>
              <a:rPr lang="en-US" sz="2000">
                <a:latin typeface="Times New Roman" panose="02020603050405020304" pitchFamily="18" charset="0"/>
                <a:cs typeface="Times New Roman" panose="02020603050405020304" pitchFamily="18" charset="0"/>
              </a:rPr>
              <a:t>Web-based desktop application development</a:t>
            </a:r>
          </a:p>
        </p:txBody>
      </p:sp>
    </p:spTree>
    <p:extLst>
      <p:ext uri="{BB962C8B-B14F-4D97-AF65-F5344CB8AC3E}">
        <p14:creationId xmlns:p14="http://schemas.microsoft.com/office/powerpoint/2010/main" val="227100674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DAE0DE2-B4B3-BBA8-2D6C-CF64E3898A5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88B855C-02B0-08F7-958A-315BCD151F9F}"/>
              </a:ext>
            </a:extLst>
          </p:cNvPr>
          <p:cNvSpPr>
            <a:spLocks noGrp="1"/>
          </p:cNvSpPr>
          <p:nvPr>
            <p:ph type="title"/>
          </p:nvPr>
        </p:nvSpPr>
        <p:spPr/>
        <p:txBody>
          <a:bodyPr/>
          <a:lstStyle/>
          <a:p>
            <a:pPr algn="ctr"/>
            <a:r>
              <a:rPr lang="en-US" b="1">
                <a:latin typeface="Times New Roman" panose="02020603050405020304" pitchFamily="18" charset="0"/>
                <a:cs typeface="Times New Roman" panose="02020603050405020304" pitchFamily="18" charset="0"/>
              </a:rPr>
              <a:t>Requirement Gathering and System Design</a:t>
            </a:r>
          </a:p>
        </p:txBody>
      </p:sp>
      <p:sp>
        <p:nvSpPr>
          <p:cNvPr id="3" name="Content Placeholder 2">
            <a:extLst>
              <a:ext uri="{FF2B5EF4-FFF2-40B4-BE49-F238E27FC236}">
                <a16:creationId xmlns:a16="http://schemas.microsoft.com/office/drawing/2014/main" id="{25D92C2C-C334-3169-128C-E30E41C79FFA}"/>
              </a:ext>
            </a:extLst>
          </p:cNvPr>
          <p:cNvSpPr>
            <a:spLocks noGrp="1"/>
          </p:cNvSpPr>
          <p:nvPr>
            <p:ph idx="1"/>
          </p:nvPr>
        </p:nvSpPr>
        <p:spPr>
          <a:xfrm>
            <a:off x="677334" y="2248138"/>
            <a:ext cx="8596668" cy="3880773"/>
          </a:xfrm>
        </p:spPr>
        <p:txBody>
          <a:bodyPr>
            <a:normAutofit/>
          </a:bodyPr>
          <a:lstStyle/>
          <a:p>
            <a:pPr>
              <a:buFont typeface="Wingdings" panose="05000000000000000000" pitchFamily="2" charset="2"/>
              <a:buChar char="Ø"/>
            </a:pPr>
            <a:r>
              <a:rPr lang="en-US" sz="2200" b="1">
                <a:latin typeface="Times New Roman" panose="02020603050405020304" pitchFamily="18" charset="0"/>
                <a:cs typeface="Times New Roman" panose="02020603050405020304" pitchFamily="18" charset="0"/>
              </a:rPr>
              <a:t>Users:</a:t>
            </a:r>
            <a:r>
              <a:rPr lang="en-US" sz="2400">
                <a:latin typeface="Times New Roman" panose="02020603050405020304" pitchFamily="18" charset="0"/>
                <a:cs typeface="Times New Roman" panose="02020603050405020304" pitchFamily="18" charset="0"/>
              </a:rPr>
              <a:t> </a:t>
            </a:r>
            <a:r>
              <a:rPr lang="en-US" sz="2000">
                <a:latin typeface="Times New Roman" panose="02020603050405020304" pitchFamily="18" charset="0"/>
                <a:cs typeface="Times New Roman" panose="02020603050405020304" pitchFamily="18" charset="0"/>
              </a:rPr>
              <a:t>guests, staff, administrators</a:t>
            </a:r>
            <a:endParaRPr lang="en-US" sz="2400">
              <a:latin typeface="Times New Roman" panose="02020603050405020304" pitchFamily="18" charset="0"/>
              <a:cs typeface="Times New Roman" panose="02020603050405020304" pitchFamily="18" charset="0"/>
            </a:endParaRPr>
          </a:p>
          <a:p>
            <a:pPr>
              <a:buFont typeface="Wingdings" panose="05000000000000000000" pitchFamily="2" charset="2"/>
              <a:buChar char="Ø"/>
            </a:pPr>
            <a:r>
              <a:rPr lang="en-US" sz="2200" b="1">
                <a:latin typeface="Times New Roman" panose="02020603050405020304" pitchFamily="18" charset="0"/>
                <a:cs typeface="Times New Roman" panose="02020603050405020304" pitchFamily="18" charset="0"/>
              </a:rPr>
              <a:t>Issues addressed:</a:t>
            </a:r>
          </a:p>
          <a:p>
            <a:pPr lvl="1">
              <a:buFont typeface="Wingdings" panose="05000000000000000000" pitchFamily="2" charset="2"/>
              <a:buChar char="§"/>
            </a:pPr>
            <a:r>
              <a:rPr lang="en-US" sz="2000">
                <a:latin typeface="Times New Roman" panose="02020603050405020304" pitchFamily="18" charset="0"/>
                <a:cs typeface="Times New Roman" panose="02020603050405020304" pitchFamily="18" charset="0"/>
              </a:rPr>
              <a:t>Third-party booking dependency</a:t>
            </a:r>
          </a:p>
          <a:p>
            <a:pPr lvl="1">
              <a:buFont typeface="Wingdings" panose="05000000000000000000" pitchFamily="2" charset="2"/>
              <a:buChar char="§"/>
            </a:pPr>
            <a:r>
              <a:rPr lang="en-US" sz="2000">
                <a:latin typeface="Times New Roman" panose="02020603050405020304" pitchFamily="18" charset="0"/>
                <a:cs typeface="Times New Roman" panose="02020603050405020304" pitchFamily="18" charset="0"/>
              </a:rPr>
              <a:t>Commission-based profit loss</a:t>
            </a:r>
          </a:p>
          <a:p>
            <a:pPr lvl="1">
              <a:buFont typeface="Wingdings" panose="05000000000000000000" pitchFamily="2" charset="2"/>
              <a:buChar char="§"/>
            </a:pPr>
            <a:r>
              <a:rPr lang="en-US" sz="2000">
                <a:latin typeface="Times New Roman" panose="02020603050405020304" pitchFamily="18" charset="0"/>
                <a:cs typeface="Times New Roman" panose="02020603050405020304" pitchFamily="18" charset="0"/>
              </a:rPr>
              <a:t>No unified system</a:t>
            </a:r>
          </a:p>
          <a:p>
            <a:pPr>
              <a:buFont typeface="Wingdings" panose="05000000000000000000" pitchFamily="2" charset="2"/>
              <a:buChar char="Ø"/>
            </a:pPr>
            <a:r>
              <a:rPr lang="en-US" sz="2200" b="1">
                <a:latin typeface="Times New Roman" panose="02020603050405020304" pitchFamily="18" charset="0"/>
                <a:cs typeface="Times New Roman" panose="02020603050405020304" pitchFamily="18" charset="0"/>
              </a:rPr>
              <a:t>Layered architecture</a:t>
            </a:r>
          </a:p>
        </p:txBody>
      </p:sp>
    </p:spTree>
    <p:extLst>
      <p:ext uri="{BB962C8B-B14F-4D97-AF65-F5344CB8AC3E}">
        <p14:creationId xmlns:p14="http://schemas.microsoft.com/office/powerpoint/2010/main" val="160260320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E8BE82-0810-F514-F5A7-A28716F7D04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49FF9EA-DD01-0801-06C9-F764477E74C4}"/>
              </a:ext>
            </a:extLst>
          </p:cNvPr>
          <p:cNvSpPr>
            <a:spLocks noGrp="1"/>
          </p:cNvSpPr>
          <p:nvPr>
            <p:ph type="title"/>
          </p:nvPr>
        </p:nvSpPr>
        <p:spPr/>
        <p:txBody>
          <a:bodyPr/>
          <a:lstStyle/>
          <a:p>
            <a:pPr algn="ctr"/>
            <a:r>
              <a:rPr lang="en-US" b="1">
                <a:latin typeface="Times New Roman" panose="02020603050405020304" pitchFamily="18" charset="0"/>
                <a:cs typeface="Times New Roman" panose="02020603050405020304" pitchFamily="18" charset="0"/>
              </a:rPr>
              <a:t>Technology Selection</a:t>
            </a:r>
          </a:p>
        </p:txBody>
      </p:sp>
      <p:sp>
        <p:nvSpPr>
          <p:cNvPr id="3" name="Content Placeholder 2">
            <a:extLst>
              <a:ext uri="{FF2B5EF4-FFF2-40B4-BE49-F238E27FC236}">
                <a16:creationId xmlns:a16="http://schemas.microsoft.com/office/drawing/2014/main" id="{8039F3C0-4D83-D393-8683-5A20BF6AE3B9}"/>
              </a:ext>
            </a:extLst>
          </p:cNvPr>
          <p:cNvSpPr>
            <a:spLocks noGrp="1"/>
          </p:cNvSpPr>
          <p:nvPr>
            <p:ph idx="1"/>
          </p:nvPr>
        </p:nvSpPr>
        <p:spPr>
          <a:xfrm>
            <a:off x="677334" y="1771483"/>
            <a:ext cx="8596668" cy="3880773"/>
          </a:xfrm>
        </p:spPr>
        <p:txBody>
          <a:bodyPr>
            <a:normAutofit/>
          </a:bodyPr>
          <a:lstStyle/>
          <a:p>
            <a:pPr>
              <a:buFont typeface="Wingdings" panose="05000000000000000000" pitchFamily="2" charset="2"/>
              <a:buChar char="Ø"/>
            </a:pPr>
            <a:r>
              <a:rPr lang="en-US" sz="2200" b="1">
                <a:latin typeface="Times New Roman" panose="02020603050405020304" pitchFamily="18" charset="0"/>
                <a:cs typeface="Times New Roman" panose="02020603050405020304" pitchFamily="18" charset="0"/>
              </a:rPr>
              <a:t>Secure and scalable stack</a:t>
            </a:r>
          </a:p>
          <a:p>
            <a:pPr>
              <a:buFont typeface="Wingdings" panose="05000000000000000000" pitchFamily="2" charset="2"/>
              <a:buChar char="Ø"/>
            </a:pPr>
            <a:r>
              <a:rPr lang="en-US" sz="2200" b="1">
                <a:latin typeface="Times New Roman" panose="02020603050405020304" pitchFamily="18" charset="0"/>
                <a:cs typeface="Times New Roman" panose="02020603050405020304" pitchFamily="18" charset="0"/>
              </a:rPr>
              <a:t>Multi-role support</a:t>
            </a:r>
          </a:p>
          <a:p>
            <a:pPr>
              <a:buFont typeface="Wingdings" panose="05000000000000000000" pitchFamily="2" charset="2"/>
              <a:buChar char="Ø"/>
            </a:pPr>
            <a:r>
              <a:rPr lang="en-US" sz="2200" b="1">
                <a:latin typeface="Times New Roman" panose="02020603050405020304" pitchFamily="18" charset="0"/>
                <a:cs typeface="Times New Roman" panose="02020603050405020304" pitchFamily="18" charset="0"/>
              </a:rPr>
              <a:t>Real-time updates</a:t>
            </a:r>
          </a:p>
          <a:p>
            <a:pPr>
              <a:buFont typeface="Wingdings" panose="05000000000000000000" pitchFamily="2" charset="2"/>
              <a:buChar char="Ø"/>
            </a:pPr>
            <a:r>
              <a:rPr lang="en-US" sz="2200" b="1">
                <a:latin typeface="Times New Roman" panose="02020603050405020304" pitchFamily="18" charset="0"/>
                <a:cs typeface="Times New Roman" panose="02020603050405020304" pitchFamily="18" charset="0"/>
              </a:rPr>
              <a:t>Core features:</a:t>
            </a:r>
          </a:p>
          <a:p>
            <a:pPr lvl="1">
              <a:buFont typeface="Wingdings" panose="05000000000000000000" pitchFamily="2" charset="2"/>
              <a:buChar char="§"/>
            </a:pPr>
            <a:r>
              <a:rPr lang="en-US" sz="2000">
                <a:latin typeface="Times New Roman" panose="02020603050405020304" pitchFamily="18" charset="0"/>
                <a:cs typeface="Times New Roman" panose="02020603050405020304" pitchFamily="18" charset="0"/>
              </a:rPr>
              <a:t>Reservations</a:t>
            </a:r>
          </a:p>
          <a:p>
            <a:pPr lvl="1">
              <a:buFont typeface="Wingdings" panose="05000000000000000000" pitchFamily="2" charset="2"/>
              <a:buChar char="§"/>
            </a:pPr>
            <a:r>
              <a:rPr lang="en-US" sz="2000">
                <a:latin typeface="Times New Roman" panose="02020603050405020304" pitchFamily="18" charset="0"/>
                <a:cs typeface="Times New Roman" panose="02020603050405020304" pitchFamily="18" charset="0"/>
              </a:rPr>
              <a:t>Payments</a:t>
            </a:r>
          </a:p>
          <a:p>
            <a:pPr lvl="1">
              <a:buFont typeface="Wingdings" panose="05000000000000000000" pitchFamily="2" charset="2"/>
              <a:buChar char="§"/>
            </a:pPr>
            <a:r>
              <a:rPr lang="en-US" sz="2000">
                <a:latin typeface="Times New Roman" panose="02020603050405020304" pitchFamily="18" charset="0"/>
                <a:cs typeface="Times New Roman" panose="02020603050405020304" pitchFamily="18" charset="0"/>
              </a:rPr>
              <a:t>Housekeeping</a:t>
            </a:r>
            <a:endParaRPr lang="en-US" sz="180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92125787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07980F0-5D06-E050-B5E3-6AC8B05504B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7A5FDCB-A647-5B94-9F16-5A8EDDCC1610}"/>
              </a:ext>
            </a:extLst>
          </p:cNvPr>
          <p:cNvSpPr>
            <a:spLocks noGrp="1"/>
          </p:cNvSpPr>
          <p:nvPr>
            <p:ph type="title"/>
          </p:nvPr>
        </p:nvSpPr>
        <p:spPr/>
        <p:txBody>
          <a:bodyPr/>
          <a:lstStyle/>
          <a:p>
            <a:pPr algn="ctr"/>
            <a:r>
              <a:rPr lang="en-US" b="1">
                <a:latin typeface="Times New Roman" panose="02020603050405020304" pitchFamily="18" charset="0"/>
                <a:cs typeface="Times New Roman" panose="02020603050405020304" pitchFamily="18" charset="0"/>
              </a:rPr>
              <a:t>System Implementation</a:t>
            </a:r>
          </a:p>
        </p:txBody>
      </p:sp>
      <p:sp>
        <p:nvSpPr>
          <p:cNvPr id="3" name="Content Placeholder 2">
            <a:extLst>
              <a:ext uri="{FF2B5EF4-FFF2-40B4-BE49-F238E27FC236}">
                <a16:creationId xmlns:a16="http://schemas.microsoft.com/office/drawing/2014/main" id="{ABA9C0CA-8A26-F673-2B35-9959977C9255}"/>
              </a:ext>
            </a:extLst>
          </p:cNvPr>
          <p:cNvSpPr>
            <a:spLocks noGrp="1"/>
          </p:cNvSpPr>
          <p:nvPr>
            <p:ph idx="1"/>
          </p:nvPr>
        </p:nvSpPr>
        <p:spPr/>
        <p:txBody>
          <a:bodyPr>
            <a:normAutofit/>
          </a:bodyPr>
          <a:lstStyle/>
          <a:p>
            <a:pPr>
              <a:buFont typeface="Wingdings" panose="05000000000000000000" pitchFamily="2" charset="2"/>
              <a:buChar char="Ø"/>
            </a:pPr>
            <a:r>
              <a:rPr lang="en-US" sz="2200" b="1">
                <a:latin typeface="Times New Roman" panose="02020603050405020304" pitchFamily="18" charset="0"/>
                <a:cs typeface="Times New Roman" panose="02020603050405020304" pitchFamily="18" charset="0"/>
              </a:rPr>
              <a:t>Front-End:</a:t>
            </a:r>
            <a:r>
              <a:rPr lang="en-US" sz="2200">
                <a:latin typeface="Times New Roman" panose="02020603050405020304" pitchFamily="18" charset="0"/>
                <a:cs typeface="Times New Roman" panose="02020603050405020304" pitchFamily="18" charset="0"/>
              </a:rPr>
              <a:t> </a:t>
            </a:r>
            <a:r>
              <a:rPr lang="en-US" sz="2000">
                <a:latin typeface="Times New Roman" panose="02020603050405020304" pitchFamily="18" charset="0"/>
                <a:cs typeface="Times New Roman" panose="02020603050405020304" pitchFamily="18" charset="0"/>
              </a:rPr>
              <a:t>HTML, CSS, JavaScript</a:t>
            </a:r>
          </a:p>
          <a:p>
            <a:pPr>
              <a:buFont typeface="Wingdings" panose="05000000000000000000" pitchFamily="2" charset="2"/>
              <a:buChar char="Ø"/>
            </a:pPr>
            <a:r>
              <a:rPr lang="en-US" sz="2200" b="1">
                <a:latin typeface="Times New Roman" panose="02020603050405020304" pitchFamily="18" charset="0"/>
                <a:cs typeface="Times New Roman" panose="02020603050405020304" pitchFamily="18" charset="0"/>
              </a:rPr>
              <a:t>Back-End:</a:t>
            </a:r>
            <a:r>
              <a:rPr lang="en-US" sz="2200">
                <a:latin typeface="Times New Roman" panose="02020603050405020304" pitchFamily="18" charset="0"/>
                <a:cs typeface="Times New Roman" panose="02020603050405020304" pitchFamily="18" charset="0"/>
              </a:rPr>
              <a:t> </a:t>
            </a:r>
            <a:r>
              <a:rPr lang="en-US" sz="2000">
                <a:latin typeface="Times New Roman" panose="02020603050405020304" pitchFamily="18" charset="0"/>
                <a:cs typeface="Times New Roman" panose="02020603050405020304" pitchFamily="18" charset="0"/>
              </a:rPr>
              <a:t>PHP</a:t>
            </a:r>
            <a:endParaRPr lang="en-US" sz="2200">
              <a:latin typeface="Times New Roman" panose="02020603050405020304" pitchFamily="18" charset="0"/>
              <a:cs typeface="Times New Roman" panose="02020603050405020304" pitchFamily="18" charset="0"/>
            </a:endParaRPr>
          </a:p>
          <a:p>
            <a:pPr>
              <a:buFont typeface="Wingdings" panose="05000000000000000000" pitchFamily="2" charset="2"/>
              <a:buChar char="Ø"/>
            </a:pPr>
            <a:r>
              <a:rPr lang="en-US" sz="2200" b="1">
                <a:latin typeface="Times New Roman" panose="02020603050405020304" pitchFamily="18" charset="0"/>
                <a:cs typeface="Times New Roman" panose="02020603050405020304" pitchFamily="18" charset="0"/>
              </a:rPr>
              <a:t>Database:</a:t>
            </a:r>
            <a:r>
              <a:rPr lang="en-US" sz="2200">
                <a:latin typeface="Times New Roman" panose="02020603050405020304" pitchFamily="18" charset="0"/>
                <a:cs typeface="Times New Roman" panose="02020603050405020304" pitchFamily="18" charset="0"/>
              </a:rPr>
              <a:t> </a:t>
            </a:r>
            <a:r>
              <a:rPr lang="en-US" sz="2000">
                <a:latin typeface="Times New Roman" panose="02020603050405020304" pitchFamily="18" charset="0"/>
                <a:cs typeface="Times New Roman" panose="02020603050405020304" pitchFamily="18" charset="0"/>
              </a:rPr>
              <a:t>MySQL</a:t>
            </a:r>
            <a:endParaRPr lang="en-US" sz="2200">
              <a:latin typeface="Times New Roman" panose="02020603050405020304" pitchFamily="18" charset="0"/>
              <a:cs typeface="Times New Roman" panose="02020603050405020304" pitchFamily="18" charset="0"/>
            </a:endParaRPr>
          </a:p>
          <a:p>
            <a:endParaRPr lang="en-US" sz="2200"/>
          </a:p>
        </p:txBody>
      </p:sp>
    </p:spTree>
    <p:extLst>
      <p:ext uri="{BB962C8B-B14F-4D97-AF65-F5344CB8AC3E}">
        <p14:creationId xmlns:p14="http://schemas.microsoft.com/office/powerpoint/2010/main" val="182126927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07F1AFF-0652-AF50-9658-6C1A6439EB8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31C5C50-A077-261A-198A-7C5793EE2F4B}"/>
              </a:ext>
            </a:extLst>
          </p:cNvPr>
          <p:cNvSpPr>
            <a:spLocks noGrp="1"/>
          </p:cNvSpPr>
          <p:nvPr>
            <p:ph type="title"/>
          </p:nvPr>
        </p:nvSpPr>
        <p:spPr/>
        <p:txBody>
          <a:bodyPr/>
          <a:lstStyle/>
          <a:p>
            <a:pPr algn="ctr"/>
            <a:r>
              <a:rPr lang="en-US" b="1">
                <a:latin typeface="Times New Roman" panose="02020603050405020304" pitchFamily="18" charset="0"/>
                <a:cs typeface="Times New Roman" panose="02020603050405020304" pitchFamily="18" charset="0"/>
              </a:rPr>
              <a:t>Security and Application Development</a:t>
            </a:r>
          </a:p>
        </p:txBody>
      </p:sp>
      <p:sp>
        <p:nvSpPr>
          <p:cNvPr id="3" name="Content Placeholder 2">
            <a:extLst>
              <a:ext uri="{FF2B5EF4-FFF2-40B4-BE49-F238E27FC236}">
                <a16:creationId xmlns:a16="http://schemas.microsoft.com/office/drawing/2014/main" id="{9B29019B-D802-AA4C-2645-82EE3A8A554D}"/>
              </a:ext>
            </a:extLst>
          </p:cNvPr>
          <p:cNvSpPr>
            <a:spLocks noGrp="1"/>
          </p:cNvSpPr>
          <p:nvPr>
            <p:ph idx="1"/>
          </p:nvPr>
        </p:nvSpPr>
        <p:spPr>
          <a:xfrm>
            <a:off x="677334" y="1742300"/>
            <a:ext cx="8596668" cy="3880773"/>
          </a:xfrm>
        </p:spPr>
        <p:txBody>
          <a:bodyPr>
            <a:normAutofit/>
          </a:bodyPr>
          <a:lstStyle/>
          <a:p>
            <a:pPr>
              <a:buFont typeface="Wingdings" panose="05000000000000000000" pitchFamily="2" charset="2"/>
              <a:buChar char="Ø"/>
            </a:pPr>
            <a:r>
              <a:rPr lang="en-US" sz="2200" b="1">
                <a:latin typeface="Times New Roman" panose="02020603050405020304" pitchFamily="18" charset="0"/>
                <a:cs typeface="Times New Roman" panose="02020603050405020304" pitchFamily="18" charset="0"/>
              </a:rPr>
              <a:t>Security measures:</a:t>
            </a:r>
          </a:p>
          <a:p>
            <a:pPr lvl="1">
              <a:buFont typeface="Wingdings" panose="05000000000000000000" pitchFamily="2" charset="2"/>
              <a:buChar char="§"/>
            </a:pPr>
            <a:r>
              <a:rPr lang="en-US" sz="2000">
                <a:latin typeface="Times New Roman" panose="02020603050405020304" pitchFamily="18" charset="0"/>
                <a:cs typeface="Times New Roman" panose="02020603050405020304" pitchFamily="18" charset="0"/>
              </a:rPr>
              <a:t>HTTPS encryption</a:t>
            </a:r>
          </a:p>
          <a:p>
            <a:pPr lvl="1">
              <a:buFont typeface="Wingdings" panose="05000000000000000000" pitchFamily="2" charset="2"/>
              <a:buChar char="§"/>
            </a:pPr>
            <a:r>
              <a:rPr lang="en-US" sz="2000">
                <a:latin typeface="Times New Roman" panose="02020603050405020304" pitchFamily="18" charset="0"/>
                <a:cs typeface="Times New Roman" panose="02020603050405020304" pitchFamily="18" charset="0"/>
              </a:rPr>
              <a:t>Password hashing</a:t>
            </a:r>
          </a:p>
          <a:p>
            <a:pPr lvl="1">
              <a:buFont typeface="Wingdings" panose="05000000000000000000" pitchFamily="2" charset="2"/>
              <a:buChar char="§"/>
            </a:pPr>
            <a:r>
              <a:rPr lang="en-US" sz="2000">
                <a:latin typeface="Times New Roman" panose="02020603050405020304" pitchFamily="18" charset="0"/>
                <a:cs typeface="Times New Roman" panose="02020603050405020304" pitchFamily="18" charset="0"/>
              </a:rPr>
              <a:t>Role-Based Access Control (RBAC)</a:t>
            </a:r>
          </a:p>
          <a:p>
            <a:pPr>
              <a:buFont typeface="Wingdings" panose="05000000000000000000" pitchFamily="2" charset="2"/>
              <a:buChar char="Ø"/>
            </a:pPr>
            <a:r>
              <a:rPr lang="en-US" sz="2200" b="1">
                <a:latin typeface="Times New Roman" panose="02020603050405020304" pitchFamily="18" charset="0"/>
                <a:cs typeface="Times New Roman" panose="02020603050405020304" pitchFamily="18" charset="0"/>
              </a:rPr>
              <a:t>Developed as a web-based desktop application</a:t>
            </a:r>
          </a:p>
        </p:txBody>
      </p:sp>
    </p:spTree>
    <p:extLst>
      <p:ext uri="{BB962C8B-B14F-4D97-AF65-F5344CB8AC3E}">
        <p14:creationId xmlns:p14="http://schemas.microsoft.com/office/powerpoint/2010/main" val="415514334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5D861B-009D-5FBF-48E4-B89FD0944646}"/>
              </a:ext>
            </a:extLst>
          </p:cNvPr>
          <p:cNvSpPr>
            <a:spLocks noGrp="1"/>
          </p:cNvSpPr>
          <p:nvPr>
            <p:ph type="title"/>
          </p:nvPr>
        </p:nvSpPr>
        <p:spPr/>
        <p:txBody>
          <a:bodyPr/>
          <a:lstStyle/>
          <a:p>
            <a:pPr algn="ctr"/>
            <a:r>
              <a:rPr lang="en-US" b="1">
                <a:latin typeface="Times New Roman" panose="02020603050405020304" pitchFamily="18" charset="0"/>
                <a:cs typeface="Times New Roman" panose="02020603050405020304" pitchFamily="18" charset="0"/>
              </a:rPr>
              <a:t>Requirements</a:t>
            </a:r>
            <a:r>
              <a:rPr lang="en-US">
                <a:latin typeface="Times New Roman" panose="02020603050405020304" pitchFamily="18" charset="0"/>
                <a:cs typeface="Times New Roman" panose="02020603050405020304" pitchFamily="18" charset="0"/>
              </a:rPr>
              <a:t> </a:t>
            </a:r>
          </a:p>
        </p:txBody>
      </p:sp>
      <p:sp>
        <p:nvSpPr>
          <p:cNvPr id="3" name="Content Placeholder 2">
            <a:extLst>
              <a:ext uri="{FF2B5EF4-FFF2-40B4-BE49-F238E27FC236}">
                <a16:creationId xmlns:a16="http://schemas.microsoft.com/office/drawing/2014/main" id="{D587AFDC-D53E-CF88-18DB-AE92583A00C5}"/>
              </a:ext>
            </a:extLst>
          </p:cNvPr>
          <p:cNvSpPr>
            <a:spLocks noGrp="1"/>
          </p:cNvSpPr>
          <p:nvPr>
            <p:ph idx="1"/>
          </p:nvPr>
        </p:nvSpPr>
        <p:spPr>
          <a:xfrm>
            <a:off x="796085" y="1940615"/>
            <a:ext cx="8596668" cy="1488385"/>
          </a:xfrm>
        </p:spPr>
        <p:txBody>
          <a:bodyPr>
            <a:normAutofit/>
          </a:bodyPr>
          <a:lstStyle/>
          <a:p>
            <a:pPr algn="just">
              <a:buFont typeface="Wingdings" panose="05000000000000000000" pitchFamily="2" charset="2"/>
              <a:buChar char="Ø"/>
            </a:pPr>
            <a:r>
              <a:rPr lang="en-US" sz="2000">
                <a:latin typeface="Times New Roman" panose="02020603050405020304" pitchFamily="18" charset="0"/>
                <a:cs typeface="Times New Roman" panose="02020603050405020304" pitchFamily="18" charset="0"/>
              </a:rPr>
              <a:t>The system supports guest booking and payment, staff and admin management functions, and secure role-based operations, while ensuring reliability, usability, performance, and proper system resources for continuous operation.</a:t>
            </a:r>
          </a:p>
        </p:txBody>
      </p:sp>
    </p:spTree>
    <p:extLst>
      <p:ext uri="{BB962C8B-B14F-4D97-AF65-F5344CB8AC3E}">
        <p14:creationId xmlns:p14="http://schemas.microsoft.com/office/powerpoint/2010/main" val="306966336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54A695-3A42-01C2-4255-260A6309D57B}"/>
              </a:ext>
            </a:extLst>
          </p:cNvPr>
          <p:cNvSpPr>
            <a:spLocks noGrp="1"/>
          </p:cNvSpPr>
          <p:nvPr>
            <p:ph type="title"/>
          </p:nvPr>
        </p:nvSpPr>
        <p:spPr/>
        <p:txBody>
          <a:bodyPr/>
          <a:lstStyle/>
          <a:p>
            <a:r>
              <a:rPr lang="en-US" b="1">
                <a:latin typeface="Times New Roman" panose="02020603050405020304" pitchFamily="18" charset="0"/>
                <a:cs typeface="Times New Roman" panose="02020603050405020304" pitchFamily="18" charset="0"/>
              </a:rPr>
              <a:t>Architecture Design </a:t>
            </a:r>
          </a:p>
        </p:txBody>
      </p:sp>
      <p:pic>
        <p:nvPicPr>
          <p:cNvPr id="5" name="Picture 4" descr="A close-up of a document&#10;&#10;AI-generated content may be incorrect.">
            <a:extLst>
              <a:ext uri="{FF2B5EF4-FFF2-40B4-BE49-F238E27FC236}">
                <a16:creationId xmlns:a16="http://schemas.microsoft.com/office/drawing/2014/main" id="{DA7A1C37-E912-6B63-09AF-008B2B9BB681}"/>
              </a:ext>
            </a:extLst>
          </p:cNvPr>
          <p:cNvPicPr>
            <a:picLocks noChangeAspect="1"/>
          </p:cNvPicPr>
          <p:nvPr/>
        </p:nvPicPr>
        <p:blipFill>
          <a:blip r:embed="rId2">
            <a:extLst>
              <a:ext uri="{28A0092B-C50C-407E-A947-70E740481C1C}">
                <a14:useLocalDpi xmlns:a14="http://schemas.microsoft.com/office/drawing/2010/main" val="0"/>
              </a:ext>
            </a:extLst>
          </a:blip>
          <a:srcRect l="7952" t="6082" r="8607" b="7192"/>
          <a:stretch>
            <a:fillRect/>
          </a:stretch>
        </p:blipFill>
        <p:spPr>
          <a:xfrm>
            <a:off x="5781037" y="973026"/>
            <a:ext cx="3654475" cy="4911947"/>
          </a:xfrm>
          <a:prstGeom prst="rect">
            <a:avLst/>
          </a:prstGeom>
        </p:spPr>
      </p:pic>
      <p:sp>
        <p:nvSpPr>
          <p:cNvPr id="6" name="TextBox 5">
            <a:extLst>
              <a:ext uri="{FF2B5EF4-FFF2-40B4-BE49-F238E27FC236}">
                <a16:creationId xmlns:a16="http://schemas.microsoft.com/office/drawing/2014/main" id="{8C927D7E-1202-C611-813C-27C3BB4EFD85}"/>
              </a:ext>
            </a:extLst>
          </p:cNvPr>
          <p:cNvSpPr txBox="1"/>
          <p:nvPr/>
        </p:nvSpPr>
        <p:spPr>
          <a:xfrm>
            <a:off x="515824" y="1803940"/>
            <a:ext cx="5103703" cy="2806987"/>
          </a:xfrm>
          <a:prstGeom prst="rect">
            <a:avLst/>
          </a:prstGeom>
          <a:noFill/>
        </p:spPr>
        <p:txBody>
          <a:bodyPr wrap="square" rtlCol="0">
            <a:spAutoFit/>
          </a:bodyPr>
          <a:lstStyle/>
          <a:p>
            <a:pPr marL="342900" indent="-342900" algn="just">
              <a:lnSpc>
                <a:spcPct val="150000"/>
              </a:lnSpc>
              <a:spcBef>
                <a:spcPts val="1000"/>
              </a:spcBef>
              <a:buClr>
                <a:schemeClr val="accent1"/>
              </a:buClr>
              <a:buSzPct val="80000"/>
              <a:buFont typeface="Wingdings" panose="05000000000000000000" pitchFamily="2" charset="2"/>
              <a:buChar char="Ø"/>
            </a:pPr>
            <a:r>
              <a:rPr lang="en-US" sz="2000">
                <a:solidFill>
                  <a:schemeClr val="tx1">
                    <a:lumMod val="75000"/>
                    <a:lumOff val="25000"/>
                  </a:schemeClr>
                </a:solidFill>
                <a:latin typeface="Times New Roman" panose="02020603050405020304" pitchFamily="18" charset="0"/>
                <a:cs typeface="Times New Roman" panose="02020603050405020304" pitchFamily="18" charset="0"/>
              </a:rPr>
              <a:t>The Hotel Reservation Management System uses a layered architecture.</a:t>
            </a:r>
            <a:br>
              <a:rPr lang="en-US" sz="2000">
                <a:solidFill>
                  <a:schemeClr val="tx1">
                    <a:lumMod val="75000"/>
                    <a:lumOff val="25000"/>
                  </a:schemeClr>
                </a:solidFill>
                <a:latin typeface="Times New Roman" panose="02020603050405020304" pitchFamily="18" charset="0"/>
                <a:cs typeface="Times New Roman" panose="02020603050405020304" pitchFamily="18" charset="0"/>
              </a:rPr>
            </a:br>
            <a:r>
              <a:rPr lang="en-US" sz="2000">
                <a:solidFill>
                  <a:schemeClr val="tx1">
                    <a:lumMod val="75000"/>
                    <a:lumOff val="25000"/>
                  </a:schemeClr>
                </a:solidFill>
                <a:latin typeface="Times New Roman" panose="02020603050405020304" pitchFamily="18" charset="0"/>
                <a:cs typeface="Times New Roman" panose="02020603050405020304" pitchFamily="18" charset="0"/>
              </a:rPr>
              <a:t>This design separates the system into Presentation, Application, Data, and Security layers to improve maintainability, security, and scalability.</a:t>
            </a:r>
            <a:endParaRPr lang="ar-SA" sz="2000">
              <a:solidFill>
                <a:schemeClr val="tx1">
                  <a:lumMod val="75000"/>
                  <a:lumOff val="25000"/>
                </a:schemeClr>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12736587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592E27-2DB9-F608-1A3C-DE2F7E70498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4E810BD-4D6A-43B4-D529-89643C5028F6}"/>
              </a:ext>
            </a:extLst>
          </p:cNvPr>
          <p:cNvSpPr>
            <a:spLocks noGrp="1"/>
          </p:cNvSpPr>
          <p:nvPr>
            <p:ph type="title"/>
          </p:nvPr>
        </p:nvSpPr>
        <p:spPr/>
        <p:txBody>
          <a:bodyPr/>
          <a:lstStyle/>
          <a:p>
            <a:pPr algn="l"/>
            <a:r>
              <a:rPr lang="en-US" b="1">
                <a:latin typeface="Times New Roman" panose="02020603050405020304" pitchFamily="18" charset="0"/>
                <a:cs typeface="Times New Roman" panose="02020603050405020304" pitchFamily="18" charset="0"/>
              </a:rPr>
              <a:t>Models</a:t>
            </a:r>
            <a:r>
              <a:rPr lang="en-US">
                <a:latin typeface="Times New Roman" panose="02020603050405020304" pitchFamily="18" charset="0"/>
                <a:cs typeface="Times New Roman" panose="02020603050405020304" pitchFamily="18" charset="0"/>
              </a:rPr>
              <a:t> </a:t>
            </a:r>
          </a:p>
        </p:txBody>
      </p:sp>
      <p:sp>
        <p:nvSpPr>
          <p:cNvPr id="3" name="Content Placeholder 2">
            <a:extLst>
              <a:ext uri="{FF2B5EF4-FFF2-40B4-BE49-F238E27FC236}">
                <a16:creationId xmlns:a16="http://schemas.microsoft.com/office/drawing/2014/main" id="{8033F575-2D72-1FF5-7C51-3F37E56EA352}"/>
              </a:ext>
            </a:extLst>
          </p:cNvPr>
          <p:cNvSpPr>
            <a:spLocks noGrp="1"/>
          </p:cNvSpPr>
          <p:nvPr>
            <p:ph idx="1"/>
          </p:nvPr>
        </p:nvSpPr>
        <p:spPr>
          <a:xfrm>
            <a:off x="677334" y="1532648"/>
            <a:ext cx="4199467" cy="4128851"/>
          </a:xfrm>
        </p:spPr>
        <p:txBody>
          <a:bodyPr>
            <a:noAutofit/>
          </a:bodyPr>
          <a:lstStyle/>
          <a:p>
            <a:pPr algn="just">
              <a:buFont typeface="Wingdings" panose="05000000000000000000" pitchFamily="2" charset="2"/>
              <a:buChar char="Ø"/>
            </a:pPr>
            <a:r>
              <a:rPr lang="en-US" sz="2000" b="1">
                <a:latin typeface="Times New Roman" panose="02020603050405020304" pitchFamily="18" charset="0"/>
                <a:cs typeface="Times New Roman" panose="02020603050405020304" pitchFamily="18" charset="0"/>
              </a:rPr>
              <a:t>1. Use Case Diagrams </a:t>
            </a:r>
            <a:endParaRPr lang="ar-SA" sz="2000" b="1">
              <a:latin typeface="Times New Roman" panose="02020603050405020304" pitchFamily="18" charset="0"/>
              <a:cs typeface="Times New Roman" panose="02020603050405020304" pitchFamily="18" charset="0"/>
            </a:endParaRPr>
          </a:p>
          <a:p>
            <a:pPr algn="just">
              <a:buFont typeface="Wingdings" panose="05000000000000000000" pitchFamily="2" charset="2"/>
              <a:buChar char="Ø"/>
            </a:pPr>
            <a:r>
              <a:rPr lang="en-US" sz="2000">
                <a:latin typeface="Times New Roman" panose="02020603050405020304" pitchFamily="18" charset="0"/>
                <a:cs typeface="Times New Roman" panose="02020603050405020304" pitchFamily="18" charset="0"/>
              </a:rPr>
              <a:t>These diagrams provide a high-level view of HRMS functionality by showing how each actor interacts with the system. They illustrate the main use cases for Guest &amp; Payment Gateway, Administrator, Front Desk Staff, Staff, and Cleaning Staff.</a:t>
            </a:r>
          </a:p>
          <a:p>
            <a:pPr algn="just"/>
            <a:endParaRPr lang="en-US" sz="2000">
              <a:latin typeface="Times New Roman" panose="02020603050405020304" pitchFamily="18" charset="0"/>
              <a:cs typeface="Times New Roman" panose="02020603050405020304" pitchFamily="18" charset="0"/>
            </a:endParaRPr>
          </a:p>
          <a:p>
            <a:pPr algn="just">
              <a:buFont typeface="Wingdings" panose="05000000000000000000" pitchFamily="2" charset="2"/>
              <a:buChar char="Ø"/>
            </a:pPr>
            <a:r>
              <a:rPr lang="en-US" sz="2000">
                <a:latin typeface="Times New Roman" panose="02020603050405020304" pitchFamily="18" charset="0"/>
                <a:cs typeface="Times New Roman" panose="02020603050405020304" pitchFamily="18" charset="0"/>
              </a:rPr>
              <a:t>Guest and Payment Gateway – Use Cases</a:t>
            </a:r>
            <a:endParaRPr lang="ar-SA" sz="2000">
              <a:latin typeface="Times New Roman" panose="02020603050405020304" pitchFamily="18" charset="0"/>
              <a:cs typeface="Times New Roman" panose="02020603050405020304" pitchFamily="18" charset="0"/>
            </a:endParaRPr>
          </a:p>
        </p:txBody>
      </p:sp>
      <p:pic>
        <p:nvPicPr>
          <p:cNvPr id="5" name="Picture 4">
            <a:extLst>
              <a:ext uri="{FF2B5EF4-FFF2-40B4-BE49-F238E27FC236}">
                <a16:creationId xmlns:a16="http://schemas.microsoft.com/office/drawing/2014/main" id="{3DEC249E-B076-4691-CE6D-7C5FEF69925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409242" y="233092"/>
            <a:ext cx="5629773" cy="6245529"/>
          </a:xfrm>
          <a:prstGeom prst="rect">
            <a:avLst/>
          </a:prstGeom>
        </p:spPr>
      </p:pic>
    </p:spTree>
    <p:extLst>
      <p:ext uri="{BB962C8B-B14F-4D97-AF65-F5344CB8AC3E}">
        <p14:creationId xmlns:p14="http://schemas.microsoft.com/office/powerpoint/2010/main" val="131463426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BB8A65B-ACAC-E3C0-DED5-BE0CD14BD3F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8352C03-2D86-63A3-9521-E6B324A49F97}"/>
              </a:ext>
            </a:extLst>
          </p:cNvPr>
          <p:cNvSpPr>
            <a:spLocks noGrp="1"/>
          </p:cNvSpPr>
          <p:nvPr>
            <p:ph type="title"/>
          </p:nvPr>
        </p:nvSpPr>
        <p:spPr>
          <a:xfrm>
            <a:off x="823249" y="609600"/>
            <a:ext cx="8596668" cy="737937"/>
          </a:xfrm>
        </p:spPr>
        <p:txBody>
          <a:bodyPr/>
          <a:lstStyle/>
          <a:p>
            <a:r>
              <a:rPr lang="en-US" b="1">
                <a:latin typeface="Times New Roman" panose="02020603050405020304" pitchFamily="18" charset="0"/>
                <a:cs typeface="Times New Roman" panose="02020603050405020304" pitchFamily="18" charset="0"/>
              </a:rPr>
              <a:t>Models</a:t>
            </a:r>
            <a:r>
              <a:rPr lang="en-US"/>
              <a:t> </a:t>
            </a:r>
          </a:p>
        </p:txBody>
      </p:sp>
      <p:sp>
        <p:nvSpPr>
          <p:cNvPr id="3" name="Content Placeholder 2">
            <a:extLst>
              <a:ext uri="{FF2B5EF4-FFF2-40B4-BE49-F238E27FC236}">
                <a16:creationId xmlns:a16="http://schemas.microsoft.com/office/drawing/2014/main" id="{D888453A-EB75-80B3-446A-20E8E5C292CB}"/>
              </a:ext>
            </a:extLst>
          </p:cNvPr>
          <p:cNvSpPr>
            <a:spLocks noGrp="1"/>
          </p:cNvSpPr>
          <p:nvPr>
            <p:ph idx="1"/>
          </p:nvPr>
        </p:nvSpPr>
        <p:spPr>
          <a:xfrm>
            <a:off x="747494" y="1451056"/>
            <a:ext cx="3625543" cy="4693825"/>
          </a:xfrm>
        </p:spPr>
        <p:txBody>
          <a:bodyPr>
            <a:normAutofit fontScale="92500"/>
          </a:bodyPr>
          <a:lstStyle/>
          <a:p>
            <a:pPr algn="just">
              <a:buFont typeface="Wingdings" panose="05000000000000000000" pitchFamily="2" charset="2"/>
              <a:buChar char="Ø"/>
            </a:pPr>
            <a:r>
              <a:rPr lang="en-US" sz="2200" b="1">
                <a:latin typeface="Times New Roman" panose="02020603050405020304" pitchFamily="18" charset="0"/>
                <a:cs typeface="Times New Roman" panose="02020603050405020304" pitchFamily="18" charset="0"/>
              </a:rPr>
              <a:t>2. Guest Sequence Diagram </a:t>
            </a:r>
            <a:endParaRPr lang="ar-SA" sz="2200" b="1">
              <a:latin typeface="Times New Roman" panose="02020603050405020304" pitchFamily="18" charset="0"/>
              <a:cs typeface="Times New Roman" panose="02020603050405020304" pitchFamily="18" charset="0"/>
            </a:endParaRPr>
          </a:p>
          <a:p>
            <a:pPr marL="0" indent="0" algn="just">
              <a:buNone/>
            </a:pPr>
            <a:r>
              <a:rPr lang="en-US" sz="2200">
                <a:latin typeface="Times New Roman" panose="02020603050405020304" pitchFamily="18" charset="0"/>
                <a:cs typeface="Times New Roman" panose="02020603050405020304" pitchFamily="18" charset="0"/>
              </a:rPr>
              <a:t>    </a:t>
            </a:r>
            <a:r>
              <a:rPr lang="ar-SA" sz="2200">
                <a:latin typeface="Times New Roman" panose="02020603050405020304" pitchFamily="18" charset="0"/>
                <a:cs typeface="Times New Roman" panose="02020603050405020304" pitchFamily="18" charset="0"/>
              </a:rPr>
              <a:t>)</a:t>
            </a:r>
            <a:r>
              <a:rPr lang="en-US" sz="2200">
                <a:latin typeface="Times New Roman" panose="02020603050405020304" pitchFamily="18" charset="0"/>
                <a:cs typeface="Times New Roman" panose="02020603050405020304" pitchFamily="18" charset="0"/>
              </a:rPr>
              <a:t>Make Reservation </a:t>
            </a:r>
            <a:r>
              <a:rPr lang="ar-SA" sz="2200">
                <a:latin typeface="Times New Roman" panose="02020603050405020304" pitchFamily="18" charset="0"/>
                <a:cs typeface="Times New Roman" panose="02020603050405020304" pitchFamily="18" charset="0"/>
              </a:rPr>
              <a:t>&amp;</a:t>
            </a:r>
            <a:r>
              <a:rPr lang="en-US" sz="2200">
                <a:latin typeface="Times New Roman" panose="02020603050405020304" pitchFamily="18" charset="0"/>
                <a:cs typeface="Times New Roman" panose="02020603050405020304" pitchFamily="18" charset="0"/>
              </a:rPr>
              <a:t> Payment</a:t>
            </a:r>
            <a:r>
              <a:rPr lang="ar-SA" sz="2200">
                <a:latin typeface="Times New Roman" panose="02020603050405020304" pitchFamily="18" charset="0"/>
                <a:cs typeface="Times New Roman" panose="02020603050405020304" pitchFamily="18" charset="0"/>
              </a:rPr>
              <a:t>(</a:t>
            </a:r>
            <a:endParaRPr lang="en-US" sz="2200">
              <a:latin typeface="Times New Roman" panose="02020603050405020304" pitchFamily="18" charset="0"/>
              <a:cs typeface="Times New Roman" panose="02020603050405020304" pitchFamily="18" charset="0"/>
            </a:endParaRPr>
          </a:p>
          <a:p>
            <a:pPr marL="0" indent="0" algn="just">
              <a:buNone/>
            </a:pPr>
            <a:endParaRPr lang="en-US" sz="2200">
              <a:latin typeface="Times New Roman" panose="02020603050405020304" pitchFamily="18" charset="0"/>
              <a:cs typeface="Times New Roman" panose="02020603050405020304" pitchFamily="18" charset="0"/>
            </a:endParaRPr>
          </a:p>
          <a:p>
            <a:pPr lvl="0" algn="just" defTabSz="914400" eaLnBrk="0" fontAlgn="base" hangingPunct="0">
              <a:lnSpc>
                <a:spcPct val="150000"/>
              </a:lnSpc>
              <a:spcBef>
                <a:spcPct val="0"/>
              </a:spcBef>
              <a:spcAft>
                <a:spcPct val="0"/>
              </a:spcAft>
              <a:buClr>
                <a:srgbClr val="0070C0"/>
              </a:buClr>
              <a:buSzTx/>
              <a:buFont typeface="Wingdings" panose="05000000000000000000" pitchFamily="2" charset="2"/>
              <a:buChar char="§"/>
            </a:pPr>
            <a:r>
              <a:rPr lang="en-US" altLang="en-US" sz="2200">
                <a:solidFill>
                  <a:schemeClr val="tx1"/>
                </a:solidFill>
                <a:latin typeface="Times New Roman" panose="02020603050405020304" pitchFamily="18" charset="0"/>
                <a:cs typeface="Times New Roman" panose="02020603050405020304" pitchFamily="18" charset="0"/>
              </a:rPr>
              <a:t>Guest selects a room and enters booking details</a:t>
            </a:r>
          </a:p>
          <a:p>
            <a:pPr lvl="0" algn="just" defTabSz="914400" eaLnBrk="0" fontAlgn="base" hangingPunct="0">
              <a:lnSpc>
                <a:spcPct val="150000"/>
              </a:lnSpc>
              <a:spcBef>
                <a:spcPct val="0"/>
              </a:spcBef>
              <a:spcAft>
                <a:spcPct val="0"/>
              </a:spcAft>
              <a:buClr>
                <a:srgbClr val="0070C0"/>
              </a:buClr>
              <a:buSzTx/>
              <a:buFont typeface="Wingdings" panose="05000000000000000000" pitchFamily="2" charset="2"/>
              <a:buChar char="§"/>
            </a:pPr>
            <a:r>
              <a:rPr lang="en-US" altLang="en-US" sz="2200">
                <a:solidFill>
                  <a:schemeClr val="tx1"/>
                </a:solidFill>
                <a:latin typeface="Times New Roman" panose="02020603050405020304" pitchFamily="18" charset="0"/>
                <a:cs typeface="Times New Roman" panose="02020603050405020304" pitchFamily="18" charset="0"/>
              </a:rPr>
              <a:t>System validates availability and processes payment</a:t>
            </a:r>
          </a:p>
          <a:p>
            <a:pPr lvl="0" algn="just" defTabSz="914400" eaLnBrk="0" fontAlgn="base" hangingPunct="0">
              <a:lnSpc>
                <a:spcPct val="150000"/>
              </a:lnSpc>
              <a:spcBef>
                <a:spcPct val="0"/>
              </a:spcBef>
              <a:spcAft>
                <a:spcPct val="0"/>
              </a:spcAft>
              <a:buClr>
                <a:srgbClr val="0070C0"/>
              </a:buClr>
              <a:buSzTx/>
              <a:buFont typeface="Wingdings" panose="05000000000000000000" pitchFamily="2" charset="2"/>
              <a:buChar char="§"/>
            </a:pPr>
            <a:r>
              <a:rPr lang="en-US" altLang="en-US" sz="2200">
                <a:solidFill>
                  <a:schemeClr val="tx1"/>
                </a:solidFill>
                <a:latin typeface="Times New Roman" panose="02020603050405020304" pitchFamily="18" charset="0"/>
                <a:cs typeface="Times New Roman" panose="02020603050405020304" pitchFamily="18" charset="0"/>
              </a:rPr>
              <a:t>Reservation is confirmed and notification is sent</a:t>
            </a:r>
          </a:p>
          <a:p>
            <a:pPr algn="just">
              <a:buClr>
                <a:srgbClr val="0070C0"/>
              </a:buClr>
              <a:buFont typeface="Wingdings" panose="05000000000000000000" pitchFamily="2" charset="2"/>
              <a:buChar char="q"/>
            </a:pPr>
            <a:endParaRPr lang="en-US" sz="2200">
              <a:latin typeface="Times New Roman" panose="02020603050405020304" pitchFamily="18" charset="0"/>
              <a:cs typeface="Times New Roman" panose="02020603050405020304" pitchFamily="18" charset="0"/>
            </a:endParaRPr>
          </a:p>
          <a:p>
            <a:pPr marL="0" indent="0">
              <a:buNone/>
            </a:pPr>
            <a:endParaRPr lang="en-US" b="1"/>
          </a:p>
        </p:txBody>
      </p:sp>
      <p:pic>
        <p:nvPicPr>
          <p:cNvPr id="5" name="Picture 4">
            <a:extLst>
              <a:ext uri="{FF2B5EF4-FFF2-40B4-BE49-F238E27FC236}">
                <a16:creationId xmlns:a16="http://schemas.microsoft.com/office/drawing/2014/main" id="{CF10669F-42B2-8864-A4D7-709752D9CF6F}"/>
              </a:ext>
            </a:extLst>
          </p:cNvPr>
          <p:cNvPicPr>
            <a:picLocks noChangeAspect="1"/>
          </p:cNvPicPr>
          <p:nvPr/>
        </p:nvPicPr>
        <p:blipFill rotWithShape="1">
          <a:blip r:embed="rId2">
            <a:extLst>
              <a:ext uri="{28A0092B-C50C-407E-A947-70E740481C1C}">
                <a14:useLocalDpi xmlns:a14="http://schemas.microsoft.com/office/drawing/2010/main" val="0"/>
              </a:ext>
            </a:extLst>
          </a:blip>
          <a:srcRect t="2405"/>
          <a:stretch>
            <a:fillRect/>
          </a:stretch>
        </p:blipFill>
        <p:spPr bwMode="auto">
          <a:xfrm>
            <a:off x="4734497" y="484867"/>
            <a:ext cx="5648459" cy="5763533"/>
          </a:xfrm>
          <a:prstGeom prst="rect">
            <a:avLst/>
          </a:prstGeom>
          <a:noFill/>
          <a:ln>
            <a:noFill/>
          </a:ln>
          <a:extLst>
            <a:ext uri="{53640926-AAD7-44D8-BBD7-CCE9431645EC}">
              <a14:shadowObscured xmlns:a14="http://schemas.microsoft.com/office/drawing/2010/main"/>
            </a:ext>
          </a:extLst>
        </p:spPr>
      </p:pic>
    </p:spTree>
    <p:extLst>
      <p:ext uri="{BB962C8B-B14F-4D97-AF65-F5344CB8AC3E}">
        <p14:creationId xmlns:p14="http://schemas.microsoft.com/office/powerpoint/2010/main" val="9305011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C3DC72A2-3B45-4B99-0F15-A37868DB79E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904DEA5-20B5-15B4-9C87-379D2D30EFDE}"/>
              </a:ext>
            </a:extLst>
          </p:cNvPr>
          <p:cNvSpPr>
            <a:spLocks noGrp="1"/>
          </p:cNvSpPr>
          <p:nvPr>
            <p:ph type="title"/>
          </p:nvPr>
        </p:nvSpPr>
        <p:spPr>
          <a:xfrm>
            <a:off x="676746" y="609600"/>
            <a:ext cx="3729076" cy="1320800"/>
          </a:xfrm>
        </p:spPr>
        <p:txBody>
          <a:bodyPr anchor="ctr">
            <a:normAutofit/>
          </a:bodyPr>
          <a:lstStyle/>
          <a:p>
            <a:r>
              <a:rPr lang="en-US" b="1">
                <a:latin typeface="Times New Roman" panose="02020603050405020304" pitchFamily="18" charset="0"/>
                <a:cs typeface="Times New Roman" panose="02020603050405020304" pitchFamily="18" charset="0"/>
              </a:rPr>
              <a:t>Models</a:t>
            </a:r>
            <a:r>
              <a:rPr lang="en-US"/>
              <a:t> </a:t>
            </a:r>
          </a:p>
        </p:txBody>
      </p:sp>
      <p:sp>
        <p:nvSpPr>
          <p:cNvPr id="3" name="Content Placeholder 2">
            <a:extLst>
              <a:ext uri="{FF2B5EF4-FFF2-40B4-BE49-F238E27FC236}">
                <a16:creationId xmlns:a16="http://schemas.microsoft.com/office/drawing/2014/main" id="{4926911E-738E-3C6C-0077-9A48AC19944C}"/>
              </a:ext>
            </a:extLst>
          </p:cNvPr>
          <p:cNvSpPr>
            <a:spLocks noGrp="1"/>
          </p:cNvSpPr>
          <p:nvPr>
            <p:ph idx="1"/>
          </p:nvPr>
        </p:nvSpPr>
        <p:spPr>
          <a:xfrm>
            <a:off x="685167" y="2160589"/>
            <a:ext cx="3720916" cy="3560733"/>
          </a:xfrm>
        </p:spPr>
        <p:txBody>
          <a:bodyPr>
            <a:normAutofit/>
          </a:bodyPr>
          <a:lstStyle/>
          <a:p>
            <a:pPr algn="just">
              <a:buFont typeface="Wingdings" panose="05000000000000000000" pitchFamily="2" charset="2"/>
              <a:buChar char="Ø"/>
            </a:pPr>
            <a:r>
              <a:rPr lang="en-US" sz="2000" b="1">
                <a:latin typeface="Times New Roman" panose="02020603050405020304" pitchFamily="18" charset="0"/>
                <a:cs typeface="Times New Roman" panose="02020603050405020304" pitchFamily="18" charset="0"/>
              </a:rPr>
              <a:t>3. Activity Diagram</a:t>
            </a:r>
            <a:endParaRPr lang="ar-SA" sz="2000" b="1">
              <a:latin typeface="Times New Roman" panose="02020603050405020304" pitchFamily="18" charset="0"/>
              <a:cs typeface="Times New Roman" panose="02020603050405020304" pitchFamily="18" charset="0"/>
            </a:endParaRPr>
          </a:p>
          <a:p>
            <a:pPr marL="0" indent="0" algn="just">
              <a:lnSpc>
                <a:spcPct val="150000"/>
              </a:lnSpc>
              <a:buNone/>
            </a:pPr>
            <a:r>
              <a:rPr lang="en-US" sz="2000">
                <a:latin typeface="Times New Roman" panose="02020603050405020304" pitchFamily="18" charset="0"/>
                <a:cs typeface="Times New Roman" panose="02020603050405020304" pitchFamily="18" charset="0"/>
              </a:rPr>
              <a:t>This diagram explains how the reservation process flows step by step, starting from the guest accesses the system and ending with room cleaning and staff updates.</a:t>
            </a:r>
          </a:p>
          <a:p>
            <a:endParaRPr lang="en-US" b="1">
              <a:latin typeface="Times New Roman" panose="02020603050405020304" pitchFamily="18" charset="0"/>
              <a:cs typeface="Times New Roman" panose="02020603050405020304" pitchFamily="18" charset="0"/>
            </a:endParaRPr>
          </a:p>
        </p:txBody>
      </p:sp>
      <p:pic>
        <p:nvPicPr>
          <p:cNvPr id="7" name="Picture 6" descr="A diagram of a process&#10;&#10;AI-generated content may be incorrect.">
            <a:extLst>
              <a:ext uri="{FF2B5EF4-FFF2-40B4-BE49-F238E27FC236}">
                <a16:creationId xmlns:a16="http://schemas.microsoft.com/office/drawing/2014/main" id="{6D41E201-9695-F231-6BC4-6DABCD0829BC}"/>
              </a:ext>
            </a:extLst>
          </p:cNvPr>
          <p:cNvPicPr>
            <a:picLocks noChangeAspect="1"/>
          </p:cNvPicPr>
          <p:nvPr/>
        </p:nvPicPr>
        <p:blipFill>
          <a:blip r:embed="rId2">
            <a:extLst>
              <a:ext uri="{28A0092B-C50C-407E-A947-70E740481C1C}">
                <a14:useLocalDpi xmlns:a14="http://schemas.microsoft.com/office/drawing/2010/main" val="0"/>
              </a:ext>
            </a:extLst>
          </a:blip>
          <a:srcRect t="4445" b="4074"/>
          <a:stretch>
            <a:fillRect/>
          </a:stretch>
        </p:blipFill>
        <p:spPr>
          <a:xfrm>
            <a:off x="4369962" y="489858"/>
            <a:ext cx="4992637" cy="5758542"/>
          </a:xfrm>
          <a:prstGeom prst="rect">
            <a:avLst/>
          </a:prstGeom>
        </p:spPr>
      </p:pic>
    </p:spTree>
    <p:extLst>
      <p:ext uri="{BB962C8B-B14F-4D97-AF65-F5344CB8AC3E}">
        <p14:creationId xmlns:p14="http://schemas.microsoft.com/office/powerpoint/2010/main" val="198806083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8ACE67-076C-4A2E-FFCC-D45CD42F997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F3C13FE-F9C4-508B-E8A2-54C75A87726B}"/>
              </a:ext>
            </a:extLst>
          </p:cNvPr>
          <p:cNvSpPr>
            <a:spLocks noGrp="1"/>
          </p:cNvSpPr>
          <p:nvPr>
            <p:ph type="title"/>
          </p:nvPr>
        </p:nvSpPr>
        <p:spPr/>
        <p:txBody>
          <a:bodyPr/>
          <a:lstStyle/>
          <a:p>
            <a:r>
              <a:rPr lang="en-US" b="1">
                <a:latin typeface="Times New Roman" panose="02020603050405020304" pitchFamily="18" charset="0"/>
                <a:cs typeface="Times New Roman" panose="02020603050405020304" pitchFamily="18" charset="0"/>
              </a:rPr>
              <a:t>Models</a:t>
            </a:r>
            <a:r>
              <a:rPr lang="en-US"/>
              <a:t> </a:t>
            </a:r>
          </a:p>
        </p:txBody>
      </p:sp>
      <p:sp>
        <p:nvSpPr>
          <p:cNvPr id="3" name="Content Placeholder 2">
            <a:extLst>
              <a:ext uri="{FF2B5EF4-FFF2-40B4-BE49-F238E27FC236}">
                <a16:creationId xmlns:a16="http://schemas.microsoft.com/office/drawing/2014/main" id="{DD14DE09-736A-8162-2266-11379C880B20}"/>
              </a:ext>
            </a:extLst>
          </p:cNvPr>
          <p:cNvSpPr>
            <a:spLocks noGrp="1"/>
          </p:cNvSpPr>
          <p:nvPr>
            <p:ph idx="1"/>
          </p:nvPr>
        </p:nvSpPr>
        <p:spPr>
          <a:xfrm>
            <a:off x="677334" y="1879234"/>
            <a:ext cx="3418010" cy="3048367"/>
          </a:xfrm>
        </p:spPr>
        <p:txBody>
          <a:bodyPr>
            <a:normAutofit/>
          </a:bodyPr>
          <a:lstStyle/>
          <a:p>
            <a:pPr algn="just">
              <a:buFont typeface="Wingdings" panose="05000000000000000000" pitchFamily="2" charset="2"/>
              <a:buChar char="Ø"/>
            </a:pPr>
            <a:r>
              <a:rPr lang="en-US" sz="2000" b="1">
                <a:latin typeface="Times New Roman" panose="02020603050405020304" pitchFamily="18" charset="0"/>
                <a:cs typeface="Times New Roman" panose="02020603050405020304" pitchFamily="18" charset="0"/>
              </a:rPr>
              <a:t>4. Context Diagram</a:t>
            </a:r>
          </a:p>
          <a:p>
            <a:pPr marL="0" indent="0" algn="just">
              <a:buNone/>
            </a:pPr>
            <a:r>
              <a:rPr lang="en-US" sz="2000">
                <a:latin typeface="Times New Roman" panose="02020603050405020304" pitchFamily="18" charset="0"/>
                <a:cs typeface="Times New Roman" panose="02020603050405020304" pitchFamily="18" charset="0"/>
              </a:rPr>
              <a:t> The diagram provides a high-level view of data flow between the system and its actors, demonstrating how information is exchanged to support hotel reservation processes.</a:t>
            </a:r>
          </a:p>
        </p:txBody>
      </p:sp>
      <p:pic>
        <p:nvPicPr>
          <p:cNvPr id="4" name="Picture 3">
            <a:extLst>
              <a:ext uri="{FF2B5EF4-FFF2-40B4-BE49-F238E27FC236}">
                <a16:creationId xmlns:a16="http://schemas.microsoft.com/office/drawing/2014/main" id="{6661DF5F-9D0C-CF98-1E43-8033188FB8F2}"/>
              </a:ext>
            </a:extLst>
          </p:cNvPr>
          <p:cNvPicPr>
            <a:picLocks noChangeAspect="1"/>
          </p:cNvPicPr>
          <p:nvPr/>
        </p:nvPicPr>
        <p:blipFill>
          <a:blip r:embed="rId2"/>
          <a:stretch>
            <a:fillRect/>
          </a:stretch>
        </p:blipFill>
        <p:spPr>
          <a:xfrm>
            <a:off x="4095345" y="1270000"/>
            <a:ext cx="5837368" cy="4456650"/>
          </a:xfrm>
          <a:prstGeom prst="rect">
            <a:avLst/>
          </a:prstGeom>
        </p:spPr>
      </p:pic>
    </p:spTree>
    <p:extLst>
      <p:ext uri="{BB962C8B-B14F-4D97-AF65-F5344CB8AC3E}">
        <p14:creationId xmlns:p14="http://schemas.microsoft.com/office/powerpoint/2010/main" val="239532088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B3BF8F-9373-655C-8D84-A49B7A5D46E1}"/>
              </a:ext>
            </a:extLst>
          </p:cNvPr>
          <p:cNvSpPr>
            <a:spLocks noGrp="1"/>
          </p:cNvSpPr>
          <p:nvPr>
            <p:ph type="title"/>
          </p:nvPr>
        </p:nvSpPr>
        <p:spPr/>
        <p:txBody>
          <a:bodyPr/>
          <a:lstStyle/>
          <a:p>
            <a:pPr algn="ctr"/>
            <a:r>
              <a:rPr lang="en-US" b="1">
                <a:latin typeface="Times New Roman" panose="02020603050405020304" pitchFamily="18" charset="0"/>
                <a:cs typeface="Times New Roman" panose="02020603050405020304" pitchFamily="18" charset="0"/>
              </a:rPr>
              <a:t>Prototype </a:t>
            </a:r>
          </a:p>
        </p:txBody>
      </p:sp>
      <p:pic>
        <p:nvPicPr>
          <p:cNvPr id="5" name="Picture 4">
            <a:extLst>
              <a:ext uri="{FF2B5EF4-FFF2-40B4-BE49-F238E27FC236}">
                <a16:creationId xmlns:a16="http://schemas.microsoft.com/office/drawing/2014/main" id="{013E480C-56C5-E19B-FAD8-0333C1EAFA6D}"/>
              </a:ext>
            </a:extLst>
          </p:cNvPr>
          <p:cNvPicPr>
            <a:picLocks noChangeAspect="1"/>
          </p:cNvPicPr>
          <p:nvPr/>
        </p:nvPicPr>
        <p:blipFill rotWithShape="1">
          <a:blip r:embed="rId2">
            <a:extLst>
              <a:ext uri="{28A0092B-C50C-407E-A947-70E740481C1C}">
                <a14:useLocalDpi xmlns:a14="http://schemas.microsoft.com/office/drawing/2010/main" val="0"/>
              </a:ext>
            </a:extLst>
          </a:blip>
          <a:srcRect l="2630" t="2116" r="3492" b="3537"/>
          <a:stretch>
            <a:fillRect/>
          </a:stretch>
        </p:blipFill>
        <p:spPr bwMode="auto">
          <a:xfrm>
            <a:off x="1712059" y="1618799"/>
            <a:ext cx="6507915" cy="4649316"/>
          </a:xfrm>
          <a:prstGeom prst="rect">
            <a:avLst/>
          </a:prstGeom>
          <a:ln>
            <a:noFill/>
          </a:ln>
          <a:effectLst>
            <a:outerShdw blurRad="190500" algn="tl" rotWithShape="0">
              <a:srgbClr val="000000">
                <a:alpha val="70000"/>
              </a:srgbClr>
            </a:outerShdw>
          </a:effectLst>
          <a:extLst>
            <a:ext uri="{53640926-AAD7-44D8-BBD7-CCE9431645EC}">
              <a14:shadowObscured xmlns:a14="http://schemas.microsoft.com/office/drawing/2010/main"/>
            </a:ext>
          </a:extLst>
        </p:spPr>
      </p:pic>
      <p:pic>
        <p:nvPicPr>
          <p:cNvPr id="6" name="Picture 5" descr="A screenshot of a login form&#10;&#10;AI-generated content may be incorrect.">
            <a:extLst>
              <a:ext uri="{FF2B5EF4-FFF2-40B4-BE49-F238E27FC236}">
                <a16:creationId xmlns:a16="http://schemas.microsoft.com/office/drawing/2014/main" id="{06B84CE3-2920-CFE2-3804-2370D1A7C48A}"/>
              </a:ext>
            </a:extLst>
          </p:cNvPr>
          <p:cNvPicPr>
            <a:picLocks noChangeAspect="1"/>
          </p:cNvPicPr>
          <p:nvPr/>
        </p:nvPicPr>
        <p:blipFill rotWithShape="1">
          <a:blip r:embed="rId3">
            <a:extLst>
              <a:ext uri="{28A0092B-C50C-407E-A947-70E740481C1C}">
                <a14:useLocalDpi xmlns:a14="http://schemas.microsoft.com/office/drawing/2010/main" val="0"/>
              </a:ext>
            </a:extLst>
          </a:blip>
          <a:srcRect l="8569" t="5659" r="6539" b="2614"/>
          <a:stretch>
            <a:fillRect/>
          </a:stretch>
        </p:blipFill>
        <p:spPr bwMode="auto">
          <a:xfrm>
            <a:off x="1712059" y="1618798"/>
            <a:ext cx="6507914" cy="4649316"/>
          </a:xfrm>
          <a:prstGeom prst="rect">
            <a:avLst/>
          </a:prstGeom>
          <a:ln>
            <a:noFill/>
          </a:ln>
          <a:extLst>
            <a:ext uri="{53640926-AAD7-44D8-BBD7-CCE9431645EC}">
              <a14:shadowObscured xmlns:a14="http://schemas.microsoft.com/office/drawing/2010/main"/>
            </a:ext>
          </a:extLst>
        </p:spPr>
      </p:pic>
      <p:pic>
        <p:nvPicPr>
          <p:cNvPr id="7" name="Picture 6">
            <a:extLst>
              <a:ext uri="{FF2B5EF4-FFF2-40B4-BE49-F238E27FC236}">
                <a16:creationId xmlns:a16="http://schemas.microsoft.com/office/drawing/2014/main" id="{2795ACF2-06A3-4C76-3284-CC1B564380EC}"/>
              </a:ext>
            </a:extLst>
          </p:cNvPr>
          <p:cNvPicPr>
            <a:picLocks noChangeAspect="1"/>
          </p:cNvPicPr>
          <p:nvPr/>
        </p:nvPicPr>
        <p:blipFill rotWithShape="1">
          <a:blip r:embed="rId4">
            <a:extLst>
              <a:ext uri="{28A0092B-C50C-407E-A947-70E740481C1C}">
                <a14:useLocalDpi xmlns:a14="http://schemas.microsoft.com/office/drawing/2010/main" val="0"/>
              </a:ext>
            </a:extLst>
          </a:blip>
          <a:srcRect l="3408" t="1396" r="3620" b="2874"/>
          <a:stretch>
            <a:fillRect/>
          </a:stretch>
        </p:blipFill>
        <p:spPr bwMode="auto">
          <a:xfrm>
            <a:off x="1712058" y="1618796"/>
            <a:ext cx="6507914" cy="4649315"/>
          </a:xfrm>
          <a:prstGeom prst="rect">
            <a:avLst/>
          </a:prstGeom>
          <a:ln>
            <a:noFill/>
          </a:ln>
          <a:extLst>
            <a:ext uri="{53640926-AAD7-44D8-BBD7-CCE9431645EC}">
              <a14:shadowObscured xmlns:a14="http://schemas.microsoft.com/office/drawing/2010/main"/>
            </a:ext>
          </a:extLst>
        </p:spPr>
      </p:pic>
      <p:pic>
        <p:nvPicPr>
          <p:cNvPr id="8" name="Picture 7">
            <a:extLst>
              <a:ext uri="{FF2B5EF4-FFF2-40B4-BE49-F238E27FC236}">
                <a16:creationId xmlns:a16="http://schemas.microsoft.com/office/drawing/2014/main" id="{2F9D34D6-136D-8D1D-2D6D-5EF42B1D5983}"/>
              </a:ext>
            </a:extLst>
          </p:cNvPr>
          <p:cNvPicPr>
            <a:picLocks noChangeAspect="1"/>
          </p:cNvPicPr>
          <p:nvPr/>
        </p:nvPicPr>
        <p:blipFill rotWithShape="1">
          <a:blip r:embed="rId5">
            <a:extLst>
              <a:ext uri="{28A0092B-C50C-407E-A947-70E740481C1C}">
                <a14:useLocalDpi xmlns:a14="http://schemas.microsoft.com/office/drawing/2010/main" val="0"/>
              </a:ext>
            </a:extLst>
          </a:blip>
          <a:srcRect l="6622" t="2700" r="7933" b="4771"/>
          <a:stretch>
            <a:fillRect/>
          </a:stretch>
        </p:blipFill>
        <p:spPr bwMode="auto">
          <a:xfrm>
            <a:off x="1712056" y="1618792"/>
            <a:ext cx="6507914" cy="4629608"/>
          </a:xfrm>
          <a:prstGeom prst="rect">
            <a:avLst/>
          </a:prstGeom>
          <a:ln>
            <a:noFill/>
          </a:ln>
          <a:extLst>
            <a:ext uri="{53640926-AAD7-44D8-BBD7-CCE9431645EC}">
              <a14:shadowObscured xmlns:a14="http://schemas.microsoft.com/office/drawing/2010/main"/>
            </a:ext>
          </a:extLst>
        </p:spPr>
      </p:pic>
      <p:pic>
        <p:nvPicPr>
          <p:cNvPr id="9" name="Picture 8">
            <a:extLst>
              <a:ext uri="{FF2B5EF4-FFF2-40B4-BE49-F238E27FC236}">
                <a16:creationId xmlns:a16="http://schemas.microsoft.com/office/drawing/2014/main" id="{13B20191-4F37-E5EF-8E1C-F42090999DDA}"/>
              </a:ext>
            </a:extLst>
          </p:cNvPr>
          <p:cNvPicPr>
            <a:picLocks noChangeAspect="1"/>
          </p:cNvPicPr>
          <p:nvPr/>
        </p:nvPicPr>
        <p:blipFill rotWithShape="1">
          <a:blip r:embed="rId6">
            <a:extLst>
              <a:ext uri="{28A0092B-C50C-407E-A947-70E740481C1C}">
                <a14:useLocalDpi xmlns:a14="http://schemas.microsoft.com/office/drawing/2010/main" val="0"/>
              </a:ext>
            </a:extLst>
          </a:blip>
          <a:srcRect l="1504" t="2305" r="4995" b="7020"/>
          <a:stretch>
            <a:fillRect/>
          </a:stretch>
        </p:blipFill>
        <p:spPr bwMode="auto">
          <a:xfrm>
            <a:off x="1712052" y="1599077"/>
            <a:ext cx="6507914" cy="4669034"/>
          </a:xfrm>
          <a:prstGeom prst="rect">
            <a:avLst/>
          </a:prstGeom>
          <a:ln>
            <a:noFill/>
          </a:ln>
          <a:extLst>
            <a:ext uri="{53640926-AAD7-44D8-BBD7-CCE9431645EC}">
              <a14:shadowObscured xmlns:a14="http://schemas.microsoft.com/office/drawing/2010/main"/>
            </a:ext>
          </a:extLst>
        </p:spPr>
      </p:pic>
      <p:pic>
        <p:nvPicPr>
          <p:cNvPr id="10" name="Picture 9">
            <a:extLst>
              <a:ext uri="{FF2B5EF4-FFF2-40B4-BE49-F238E27FC236}">
                <a16:creationId xmlns:a16="http://schemas.microsoft.com/office/drawing/2014/main" id="{D9988DEC-868D-FF0F-0313-615E7C511C46}"/>
              </a:ext>
            </a:extLst>
          </p:cNvPr>
          <p:cNvPicPr>
            <a:picLocks noChangeAspect="1"/>
          </p:cNvPicPr>
          <p:nvPr/>
        </p:nvPicPr>
        <p:blipFill rotWithShape="1">
          <a:blip r:embed="rId7">
            <a:extLst>
              <a:ext uri="{28A0092B-C50C-407E-A947-70E740481C1C}">
                <a14:useLocalDpi xmlns:a14="http://schemas.microsoft.com/office/drawing/2010/main" val="0"/>
              </a:ext>
            </a:extLst>
          </a:blip>
          <a:srcRect l="2278" t="2210" r="4903" b="19770"/>
          <a:stretch>
            <a:fillRect/>
          </a:stretch>
        </p:blipFill>
        <p:spPr bwMode="auto">
          <a:xfrm>
            <a:off x="1712044" y="1604644"/>
            <a:ext cx="6507914" cy="4663467"/>
          </a:xfrm>
          <a:prstGeom prst="rect">
            <a:avLst/>
          </a:prstGeom>
          <a:ln>
            <a:noFill/>
          </a:ln>
          <a:extLst>
            <a:ext uri="{53640926-AAD7-44D8-BBD7-CCE9431645EC}">
              <a14:shadowObscured xmlns:a14="http://schemas.microsoft.com/office/drawing/2010/main"/>
            </a:ext>
          </a:extLst>
        </p:spPr>
      </p:pic>
      <p:pic>
        <p:nvPicPr>
          <p:cNvPr id="11" name="Picture 10">
            <a:extLst>
              <a:ext uri="{FF2B5EF4-FFF2-40B4-BE49-F238E27FC236}">
                <a16:creationId xmlns:a16="http://schemas.microsoft.com/office/drawing/2014/main" id="{1A85435A-0E14-9C15-A095-84E7EF73306B}"/>
              </a:ext>
            </a:extLst>
          </p:cNvPr>
          <p:cNvPicPr>
            <a:picLocks noChangeAspect="1"/>
          </p:cNvPicPr>
          <p:nvPr/>
        </p:nvPicPr>
        <p:blipFill rotWithShape="1">
          <a:blip r:embed="rId8">
            <a:extLst>
              <a:ext uri="{28A0092B-C50C-407E-A947-70E740481C1C}">
                <a14:useLocalDpi xmlns:a14="http://schemas.microsoft.com/office/drawing/2010/main" val="0"/>
              </a:ext>
            </a:extLst>
          </a:blip>
          <a:srcRect l="2279" t="4047" r="5753" b="60710"/>
          <a:stretch>
            <a:fillRect/>
          </a:stretch>
        </p:blipFill>
        <p:spPr bwMode="auto">
          <a:xfrm>
            <a:off x="1712036" y="1599073"/>
            <a:ext cx="6507914" cy="4663467"/>
          </a:xfrm>
          <a:prstGeom prst="rect">
            <a:avLst/>
          </a:prstGeom>
          <a:ln>
            <a:noFill/>
          </a:ln>
          <a:extLst>
            <a:ext uri="{53640926-AAD7-44D8-BBD7-CCE9431645EC}">
              <a14:shadowObscured xmlns:a14="http://schemas.microsoft.com/office/drawing/2010/main"/>
            </a:ext>
          </a:extLst>
        </p:spPr>
      </p:pic>
      <p:pic>
        <p:nvPicPr>
          <p:cNvPr id="12" name="Picture 11">
            <a:extLst>
              <a:ext uri="{FF2B5EF4-FFF2-40B4-BE49-F238E27FC236}">
                <a16:creationId xmlns:a16="http://schemas.microsoft.com/office/drawing/2014/main" id="{4BCD2DD2-0E71-FC09-DDB8-14A5BBB28FDA}"/>
              </a:ext>
            </a:extLst>
          </p:cNvPr>
          <p:cNvPicPr>
            <a:picLocks noChangeAspect="1"/>
          </p:cNvPicPr>
          <p:nvPr/>
        </p:nvPicPr>
        <p:blipFill rotWithShape="1">
          <a:blip r:embed="rId9">
            <a:extLst>
              <a:ext uri="{28A0092B-C50C-407E-A947-70E740481C1C}">
                <a14:useLocalDpi xmlns:a14="http://schemas.microsoft.com/office/drawing/2010/main" val="0"/>
              </a:ext>
            </a:extLst>
          </a:blip>
          <a:srcRect l="3763" t="4898" r="3253" b="2825"/>
          <a:stretch>
            <a:fillRect/>
          </a:stretch>
        </p:blipFill>
        <p:spPr bwMode="auto">
          <a:xfrm>
            <a:off x="1712019" y="1593498"/>
            <a:ext cx="6507914" cy="4688765"/>
          </a:xfrm>
          <a:prstGeom prst="rect">
            <a:avLst/>
          </a:prstGeom>
          <a:ln>
            <a:noFill/>
          </a:ln>
          <a:extLst>
            <a:ext uri="{53640926-AAD7-44D8-BBD7-CCE9431645EC}">
              <a14:shadowObscured xmlns:a14="http://schemas.microsoft.com/office/drawing/2010/main"/>
            </a:ext>
          </a:extLst>
        </p:spPr>
      </p:pic>
      <p:pic>
        <p:nvPicPr>
          <p:cNvPr id="13" name="Picture 12">
            <a:extLst>
              <a:ext uri="{FF2B5EF4-FFF2-40B4-BE49-F238E27FC236}">
                <a16:creationId xmlns:a16="http://schemas.microsoft.com/office/drawing/2014/main" id="{64FCBAC1-E154-A786-6373-B9E2338C4AF5}"/>
              </a:ext>
            </a:extLst>
          </p:cNvPr>
          <p:cNvPicPr>
            <a:picLocks noChangeAspect="1"/>
          </p:cNvPicPr>
          <p:nvPr/>
        </p:nvPicPr>
        <p:blipFill rotWithShape="1">
          <a:blip r:embed="rId10"/>
          <a:srcRect l="1679" t="883" r="947" b="2080"/>
          <a:stretch>
            <a:fillRect/>
          </a:stretch>
        </p:blipFill>
        <p:spPr bwMode="auto">
          <a:xfrm>
            <a:off x="1711977" y="1590492"/>
            <a:ext cx="6507913" cy="4688764"/>
          </a:xfrm>
          <a:prstGeom prst="rect">
            <a:avLst/>
          </a:prstGeom>
          <a:ln>
            <a:noFill/>
          </a:ln>
          <a:extLst>
            <a:ext uri="{53640926-AAD7-44D8-BBD7-CCE9431645EC}">
              <a14:shadowObscured xmlns:a14="http://schemas.microsoft.com/office/drawing/2010/main"/>
            </a:ext>
          </a:extLst>
        </p:spPr>
      </p:pic>
      <p:pic>
        <p:nvPicPr>
          <p:cNvPr id="14" name="Picture 13">
            <a:extLst>
              <a:ext uri="{FF2B5EF4-FFF2-40B4-BE49-F238E27FC236}">
                <a16:creationId xmlns:a16="http://schemas.microsoft.com/office/drawing/2014/main" id="{6BB0D779-175D-2BF2-DEC1-A72B99F00862}"/>
              </a:ext>
            </a:extLst>
          </p:cNvPr>
          <p:cNvPicPr>
            <a:picLocks noChangeAspect="1"/>
          </p:cNvPicPr>
          <p:nvPr/>
        </p:nvPicPr>
        <p:blipFill rotWithShape="1">
          <a:blip r:embed="rId11">
            <a:extLst>
              <a:ext uri="{28A0092B-C50C-407E-A947-70E740481C1C}">
                <a14:useLocalDpi xmlns:a14="http://schemas.microsoft.com/office/drawing/2010/main" val="0"/>
              </a:ext>
            </a:extLst>
          </a:blip>
          <a:srcRect l="17610" t="20517" r="8569" b="10788"/>
          <a:stretch>
            <a:fillRect/>
          </a:stretch>
        </p:blipFill>
        <p:spPr bwMode="auto">
          <a:xfrm>
            <a:off x="1711976" y="1599069"/>
            <a:ext cx="6507914" cy="4643756"/>
          </a:xfrm>
          <a:prstGeom prst="rect">
            <a:avLst/>
          </a:prstGeom>
          <a:ln>
            <a:noFill/>
          </a:ln>
          <a:extLst>
            <a:ext uri="{53640926-AAD7-44D8-BBD7-CCE9431645EC}">
              <a14:shadowObscured xmlns:a14="http://schemas.microsoft.com/office/drawing/2010/main"/>
            </a:ext>
          </a:extLst>
        </p:spPr>
      </p:pic>
    </p:spTree>
    <p:extLst>
      <p:ext uri="{BB962C8B-B14F-4D97-AF65-F5344CB8AC3E}">
        <p14:creationId xmlns:p14="http://schemas.microsoft.com/office/powerpoint/2010/main" val="139457305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8"/>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9"/>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0"/>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11"/>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12"/>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13"/>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1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40A24D-DF8D-DEF5-FA69-32392682928C}"/>
              </a:ext>
            </a:extLst>
          </p:cNvPr>
          <p:cNvSpPr>
            <a:spLocks noGrp="1"/>
          </p:cNvSpPr>
          <p:nvPr>
            <p:ph type="title"/>
          </p:nvPr>
        </p:nvSpPr>
        <p:spPr/>
        <p:txBody>
          <a:bodyPr/>
          <a:lstStyle/>
          <a:p>
            <a:pPr algn="ctr"/>
            <a:r>
              <a:rPr lang="en-US" b="1">
                <a:latin typeface="Times New Roman" panose="02020603050405020304" pitchFamily="18" charset="0"/>
                <a:cs typeface="Times New Roman" panose="02020603050405020304" pitchFamily="18" charset="0"/>
              </a:rPr>
              <a:t>Gantt Chart</a:t>
            </a:r>
          </a:p>
        </p:txBody>
      </p:sp>
      <p:pic>
        <p:nvPicPr>
          <p:cNvPr id="4" name="Picture 3">
            <a:extLst>
              <a:ext uri="{FF2B5EF4-FFF2-40B4-BE49-F238E27FC236}">
                <a16:creationId xmlns:a16="http://schemas.microsoft.com/office/drawing/2014/main" id="{EF025284-6E8A-8FAA-04C6-FAB1EDD096F9}"/>
              </a:ext>
            </a:extLst>
          </p:cNvPr>
          <p:cNvPicPr>
            <a:picLocks noChangeAspect="1"/>
          </p:cNvPicPr>
          <p:nvPr/>
        </p:nvPicPr>
        <p:blipFill rotWithShape="1">
          <a:blip r:embed="rId2">
            <a:extLst>
              <a:ext uri="{28A0092B-C50C-407E-A947-70E740481C1C}">
                <a14:useLocalDpi xmlns:a14="http://schemas.microsoft.com/office/drawing/2010/main" val="0"/>
              </a:ext>
            </a:extLst>
          </a:blip>
          <a:srcRect l="1935" r="19221"/>
          <a:stretch>
            <a:fillRect/>
          </a:stretch>
        </p:blipFill>
        <p:spPr bwMode="auto">
          <a:xfrm>
            <a:off x="1041366" y="1673626"/>
            <a:ext cx="8009352" cy="3976404"/>
          </a:xfrm>
          <a:prstGeom prst="rect">
            <a:avLst/>
          </a:prstGeom>
          <a:ln>
            <a:noFill/>
          </a:ln>
          <a:effectLst>
            <a:outerShdw blurRad="190500" algn="tl" rotWithShape="0">
              <a:srgbClr val="000000">
                <a:alpha val="70000"/>
              </a:srgbClr>
            </a:outerShdw>
          </a:effectLst>
          <a:extLst>
            <a:ext uri="{53640926-AAD7-44D8-BBD7-CCE9431645EC}">
              <a14:shadowObscured xmlns:a14="http://schemas.microsoft.com/office/drawing/2010/main"/>
            </a:ext>
          </a:extLst>
        </p:spPr>
      </p:pic>
    </p:spTree>
    <p:extLst>
      <p:ext uri="{BB962C8B-B14F-4D97-AF65-F5344CB8AC3E}">
        <p14:creationId xmlns:p14="http://schemas.microsoft.com/office/powerpoint/2010/main" val="268916434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95789D-056D-8947-0BFF-51FCD47FE505}"/>
              </a:ext>
            </a:extLst>
          </p:cNvPr>
          <p:cNvSpPr>
            <a:spLocks noGrp="1"/>
          </p:cNvSpPr>
          <p:nvPr>
            <p:ph type="title"/>
          </p:nvPr>
        </p:nvSpPr>
        <p:spPr/>
        <p:txBody>
          <a:bodyPr/>
          <a:lstStyle/>
          <a:p>
            <a:pPr algn="ctr"/>
            <a:r>
              <a:rPr lang="en-US" b="1">
                <a:latin typeface="Times New Roman" panose="02020603050405020304" pitchFamily="18" charset="0"/>
                <a:cs typeface="Times New Roman" panose="02020603050405020304" pitchFamily="18" charset="0"/>
              </a:rPr>
              <a:t>Conclusion </a:t>
            </a:r>
          </a:p>
        </p:txBody>
      </p:sp>
      <p:sp>
        <p:nvSpPr>
          <p:cNvPr id="3" name="Content Placeholder 2">
            <a:extLst>
              <a:ext uri="{FF2B5EF4-FFF2-40B4-BE49-F238E27FC236}">
                <a16:creationId xmlns:a16="http://schemas.microsoft.com/office/drawing/2014/main" id="{AFE14D7C-9FCC-BAF0-0791-F34E9EC48AEA}"/>
              </a:ext>
            </a:extLst>
          </p:cNvPr>
          <p:cNvSpPr>
            <a:spLocks noGrp="1"/>
          </p:cNvSpPr>
          <p:nvPr>
            <p:ph idx="1"/>
          </p:nvPr>
        </p:nvSpPr>
        <p:spPr>
          <a:xfrm>
            <a:off x="677334" y="1679326"/>
            <a:ext cx="8596668" cy="3880773"/>
          </a:xfrm>
        </p:spPr>
        <p:txBody>
          <a:bodyPr>
            <a:normAutofit/>
          </a:bodyPr>
          <a:lstStyle/>
          <a:p>
            <a:pPr algn="just">
              <a:buFont typeface="Wingdings" panose="05000000000000000000" pitchFamily="2" charset="2"/>
              <a:buChar char="Ø"/>
            </a:pPr>
            <a:r>
              <a:rPr lang="en-US" sz="2000">
                <a:latin typeface="Times New Roman" panose="02020603050405020304" pitchFamily="18" charset="0"/>
                <a:cs typeface="Times New Roman" panose="02020603050405020304" pitchFamily="18" charset="0"/>
              </a:rPr>
              <a:t>This project focused on designing a Hotel Reservation Management System to improve hotel booking and operational efficiency. The system supports key functions such as room availability management, reservations, secure payments, and staff operations.</a:t>
            </a:r>
          </a:p>
          <a:p>
            <a:pPr algn="just">
              <a:buFont typeface="Wingdings" panose="05000000000000000000" pitchFamily="2" charset="2"/>
              <a:buChar char="Ø"/>
            </a:pPr>
            <a:r>
              <a:rPr lang="en-US" sz="2000">
                <a:latin typeface="Times New Roman" panose="02020603050405020304" pitchFamily="18" charset="0"/>
                <a:cs typeface="Times New Roman" panose="02020603050405020304" pitchFamily="18" charset="0"/>
              </a:rPr>
              <a:t>Through requirements analysis, UML diagrams, and a functional prototype, the system design was clearly defined and aligned with real-world hotel needs. The layered architecture and security measures ensure reliability, scalability, and safe data handling.</a:t>
            </a:r>
          </a:p>
          <a:p>
            <a:pPr algn="just">
              <a:buFont typeface="Wingdings" panose="05000000000000000000" pitchFamily="2" charset="2"/>
              <a:buChar char="Ø"/>
            </a:pPr>
            <a:r>
              <a:rPr lang="en-US" sz="2000">
                <a:latin typeface="Times New Roman" panose="02020603050405020304" pitchFamily="18" charset="0"/>
                <a:cs typeface="Times New Roman" panose="02020603050405020304" pitchFamily="18" charset="0"/>
              </a:rPr>
              <a:t>Overall, this project demonstrates the effective use of software engineering principles to design a user-friendly and scalable hotel reservation system with potential for future enhancements.</a:t>
            </a:r>
          </a:p>
        </p:txBody>
      </p:sp>
    </p:spTree>
    <p:extLst>
      <p:ext uri="{BB962C8B-B14F-4D97-AF65-F5344CB8AC3E}">
        <p14:creationId xmlns:p14="http://schemas.microsoft.com/office/powerpoint/2010/main" val="879468178"/>
      </p:ext>
    </p:extLst>
  </p:cSld>
  <p:clrMapOvr>
    <a:masterClrMapping/>
  </p:clrMapOvr>
</p:sld>
</file>

<file path=ppt/theme/theme1.xml><?xml version="1.0" encoding="utf-8"?>
<a:theme xmlns:a="http://schemas.openxmlformats.org/drawingml/2006/main" name="Facet">
  <a:themeElements>
    <a:clrScheme name="Blue Warm">
      <a:dk1>
        <a:sysClr val="windowText" lastClr="000000"/>
      </a:dk1>
      <a:lt1>
        <a:sysClr val="window" lastClr="FFFFFF"/>
      </a:lt1>
      <a:dk2>
        <a:srgbClr val="242852"/>
      </a:dk2>
      <a:lt2>
        <a:srgbClr val="ACCBF9"/>
      </a:lt2>
      <a:accent1>
        <a:srgbClr val="4A66AC"/>
      </a:accent1>
      <a:accent2>
        <a:srgbClr val="629DD1"/>
      </a:accent2>
      <a:accent3>
        <a:srgbClr val="297FD5"/>
      </a:accent3>
      <a:accent4>
        <a:srgbClr val="7F8FA9"/>
      </a:accent4>
      <a:accent5>
        <a:srgbClr val="5AA2AE"/>
      </a:accent5>
      <a:accent6>
        <a:srgbClr val="9D90A0"/>
      </a:accent6>
      <a:hlink>
        <a:srgbClr val="9454C3"/>
      </a:hlink>
      <a:folHlink>
        <a:srgbClr val="3EBBF0"/>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CFBC31BA-B70F-4F30-BCAA-4F3011E16C4D}"/>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366BB69C3230DD439DABD94A2FB5F970" ma:contentTypeVersion="15" ma:contentTypeDescription="Create a new document." ma:contentTypeScope="" ma:versionID="ece651982cb96d9ae3bee8c97a62bde3">
  <xsd:schema xmlns:xsd="http://www.w3.org/2001/XMLSchema" xmlns:xs="http://www.w3.org/2001/XMLSchema" xmlns:p="http://schemas.microsoft.com/office/2006/metadata/properties" xmlns:ns3="f2ee1535-fef5-41c3-a1ee-2257e0eee339" xmlns:ns4="1beddbdd-2cfb-4185-89ce-ec7f694b1e6e" targetNamespace="http://schemas.microsoft.com/office/2006/metadata/properties" ma:root="true" ma:fieldsID="ce0211720b901148c7dce9015179b46b" ns3:_="" ns4:_="">
    <xsd:import namespace="f2ee1535-fef5-41c3-a1ee-2257e0eee339"/>
    <xsd:import namespace="1beddbdd-2cfb-4185-89ce-ec7f694b1e6e"/>
    <xsd:element name="properties">
      <xsd:complexType>
        <xsd:sequence>
          <xsd:element name="documentManagement">
            <xsd:complexType>
              <xsd:all>
                <xsd:element ref="ns3:MediaServiceMetadata" minOccurs="0"/>
                <xsd:element ref="ns3:MediaServiceFastMetadata" minOccurs="0"/>
                <xsd:element ref="ns3:MediaServiceAutoKeyPoints" minOccurs="0"/>
                <xsd:element ref="ns3:MediaServiceKeyPoints" minOccurs="0"/>
                <xsd:element ref="ns4:SharedWithUsers" minOccurs="0"/>
                <xsd:element ref="ns4:SharedWithDetails" minOccurs="0"/>
                <xsd:element ref="ns4:SharingHintHash" minOccurs="0"/>
                <xsd:element ref="ns3:_activity" minOccurs="0"/>
                <xsd:element ref="ns3:MediaServiceObjectDetectorVersions" minOccurs="0"/>
                <xsd:element ref="ns3:MediaServiceSystemTags" minOccurs="0"/>
                <xsd:element ref="ns3:MediaServiceOCR" minOccurs="0"/>
                <xsd:element ref="ns3:MediaServiceGenerationTime" minOccurs="0"/>
                <xsd:element ref="ns3:MediaServiceEventHashCode" minOccurs="0"/>
                <xsd:element ref="ns3:MediaServiceDateTaken" minOccurs="0"/>
                <xsd:element ref="ns3: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f2ee1535-fef5-41c3-a1ee-2257e0eee339"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_activity" ma:index="15" nillable="true" ma:displayName="_activity" ma:hidden="true" ma:internalName="_activity">
      <xsd:simpleType>
        <xsd:restriction base="dms:Note"/>
      </xsd:simpleType>
    </xsd:element>
    <xsd:element name="MediaServiceObjectDetectorVersions" ma:index="16" nillable="true" ma:displayName="MediaServiceObjectDetectorVersions" ma:hidden="true" ma:indexed="true" ma:internalName="MediaServiceObjectDetectorVersions" ma:readOnly="true">
      <xsd:simpleType>
        <xsd:restriction base="dms:Text"/>
      </xsd:simpleType>
    </xsd:element>
    <xsd:element name="MediaServiceSystemTags" ma:index="17" nillable="true" ma:displayName="MediaServiceSystemTags" ma:hidden="true" ma:internalName="MediaServiceSystemTags" ma:readOnly="true">
      <xsd:simpleType>
        <xsd:restriction base="dms:Note"/>
      </xsd:simpleType>
    </xsd:element>
    <xsd:element name="MediaServiceOCR" ma:index="18" nillable="true" ma:displayName="Extracted Text" ma:internalName="MediaServiceOCR" ma:readOnly="true">
      <xsd:simpleType>
        <xsd:restriction base="dms:Note">
          <xsd:maxLength value="255"/>
        </xsd:restriction>
      </xsd:simpleType>
    </xsd:element>
    <xsd:element name="MediaServiceGenerationTime" ma:index="19" nillable="true" ma:displayName="MediaServiceGenerationTime" ma:hidden="true" ma:internalName="MediaServiceGenerationTime" ma:readOnly="true">
      <xsd:simpleType>
        <xsd:restriction base="dms:Text"/>
      </xsd:simpleType>
    </xsd:element>
    <xsd:element name="MediaServiceEventHashCode" ma:index="20" nillable="true" ma:displayName="MediaServiceEventHashCode" ma:hidden="true" ma:internalName="MediaServiceEventHashCode" ma:readOnly="true">
      <xsd:simpleType>
        <xsd:restriction base="dms:Text"/>
      </xsd:simpleType>
    </xsd:element>
    <xsd:element name="MediaServiceDateTaken" ma:index="21" nillable="true" ma:displayName="MediaServiceDateTaken" ma:hidden="true" ma:indexed="true" ma:internalName="MediaServiceDateTaken" ma:readOnly="true">
      <xsd:simpleType>
        <xsd:restriction base="dms:Text"/>
      </xsd:simpleType>
    </xsd:element>
    <xsd:element name="MediaServiceSearchProperties" ma:index="22"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1beddbdd-2cfb-4185-89ce-ec7f694b1e6e" elementFormDefault="qualified">
    <xsd:import namespace="http://schemas.microsoft.com/office/2006/documentManagement/types"/>
    <xsd:import namespace="http://schemas.microsoft.com/office/infopath/2007/PartnerControls"/>
    <xsd:element name="SharedWithUsers" ma:index="12"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3" nillable="true" ma:displayName="Shared With Details" ma:internalName="SharedWithDetails" ma:readOnly="true">
      <xsd:simpleType>
        <xsd:restriction base="dms:Note">
          <xsd:maxLength value="255"/>
        </xsd:restriction>
      </xsd:simpleType>
    </xsd:element>
    <xsd:element name="SharingHintHash" ma:index="14" nillable="true" ma:displayName="Sharing Hint Hash" ma:hidden="true" ma:internalName="SharingHintHash"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_activity xmlns="f2ee1535-fef5-41c3-a1ee-2257e0eee339" xsi:nil="true"/>
  </documentManagement>
</p:properties>
</file>

<file path=customXml/itemProps1.xml><?xml version="1.0" encoding="utf-8"?>
<ds:datastoreItem xmlns:ds="http://schemas.openxmlformats.org/officeDocument/2006/customXml" ds:itemID="{1FD5485A-2F4B-4670-81F8-BCF432FF7E90}">
  <ds:schemaRefs>
    <ds:schemaRef ds:uri="1beddbdd-2cfb-4185-89ce-ec7f694b1e6e"/>
    <ds:schemaRef ds:uri="f2ee1535-fef5-41c3-a1ee-2257e0eee339"/>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2.xml><?xml version="1.0" encoding="utf-8"?>
<ds:datastoreItem xmlns:ds="http://schemas.openxmlformats.org/officeDocument/2006/customXml" ds:itemID="{41B0C1AB-C05E-4B2F-B500-016B82E58EF3}">
  <ds:schemaRefs>
    <ds:schemaRef ds:uri="http://schemas.microsoft.com/sharepoint/v3/contenttype/forms"/>
  </ds:schemaRefs>
</ds:datastoreItem>
</file>

<file path=customXml/itemProps3.xml><?xml version="1.0" encoding="utf-8"?>
<ds:datastoreItem xmlns:ds="http://schemas.openxmlformats.org/officeDocument/2006/customXml" ds:itemID="{3B8BDD2D-B0FC-4883-8C22-99B61A8832D2}">
  <ds:schemaRefs>
    <ds:schemaRef ds:uri="1beddbdd-2cfb-4185-89ce-ec7f694b1e6e"/>
    <ds:schemaRef ds:uri="http://schemas.openxmlformats.org/package/2006/metadata/core-properties"/>
    <ds:schemaRef ds:uri="f2ee1535-fef5-41c3-a1ee-2257e0eee339"/>
    <ds:schemaRef ds:uri="http://purl.org/dc/terms/"/>
    <ds:schemaRef ds:uri="http://schemas.microsoft.com/office/infopath/2007/PartnerControls"/>
    <ds:schemaRef ds:uri="http://schemas.microsoft.com/office/2006/documentManagement/types"/>
    <ds:schemaRef ds:uri="http://purl.org/dc/elements/1.1/"/>
    <ds:schemaRef ds:uri="http://schemas.microsoft.com/office/2006/metadata/properties"/>
    <ds:schemaRef ds:uri="http://www.w3.org/XML/1998/namespace"/>
    <ds:schemaRef ds:uri="http://purl.org/dc/dcmitype/"/>
  </ds:schemaRefs>
</ds:datastoreItem>
</file>

<file path=docProps/app.xml><?xml version="1.0" encoding="utf-8"?>
<Properties xmlns="http://schemas.openxmlformats.org/officeDocument/2006/extended-properties" xmlns:vt="http://schemas.openxmlformats.org/officeDocument/2006/docPropsVTypes">
  <Template>TM02900688[[fn=Facet]]</Template>
  <TotalTime>0</TotalTime>
  <Words>529</Words>
  <Application>Microsoft Office PowerPoint</Application>
  <PresentationFormat>Widescreen</PresentationFormat>
  <Paragraphs>74</Paragraphs>
  <Slides>16</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16</vt:i4>
      </vt:variant>
    </vt:vector>
  </HeadingPairs>
  <TitlesOfParts>
    <vt:vector size="22" baseType="lpstr">
      <vt:lpstr>Arial</vt:lpstr>
      <vt:lpstr>Times New Roman</vt:lpstr>
      <vt:lpstr>Trebuchet MS</vt:lpstr>
      <vt:lpstr>Wingdings</vt:lpstr>
      <vt:lpstr>Wingdings 3</vt:lpstr>
      <vt:lpstr>Facet</vt:lpstr>
      <vt:lpstr>Hotel Reservation Management System </vt:lpstr>
      <vt:lpstr>Introduction</vt:lpstr>
      <vt:lpstr>Methodology Description </vt:lpstr>
      <vt:lpstr>Requirement Gathering and System Design</vt:lpstr>
      <vt:lpstr>Technology Selection</vt:lpstr>
      <vt:lpstr>System Implementation</vt:lpstr>
      <vt:lpstr>Security and Application Development</vt:lpstr>
      <vt:lpstr>Requirements </vt:lpstr>
      <vt:lpstr>Architecture Design </vt:lpstr>
      <vt:lpstr>Models </vt:lpstr>
      <vt:lpstr>Models </vt:lpstr>
      <vt:lpstr>Models </vt:lpstr>
      <vt:lpstr>Models </vt:lpstr>
      <vt:lpstr>Prototype </vt:lpstr>
      <vt:lpstr>Gantt Chart</vt:lpstr>
      <vt:lpstr>Conclusion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فاطمه حسين بن جاسم العبدالاه</dc:creator>
  <cp:lastModifiedBy>عاتكه حسين ابن صالح الجعفر</cp:lastModifiedBy>
  <cp:revision>1</cp:revision>
  <dcterms:created xsi:type="dcterms:W3CDTF">2025-12-12T10:32:26Z</dcterms:created>
  <dcterms:modified xsi:type="dcterms:W3CDTF">2025-12-17T08:05:48Z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0x010100366BB69C3230DD439DABD94A2FB5F970</vt:lpwstr>
  </property>
</Properties>
</file>